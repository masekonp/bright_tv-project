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3"/>
  </p:notesMasterIdLst>
  <p:handoutMasterIdLst>
    <p:handoutMasterId r:id="rId24"/>
  </p:handoutMasterIdLst>
  <p:sldIdLst>
    <p:sldId id="340" r:id="rId5"/>
    <p:sldId id="356" r:id="rId6"/>
    <p:sldId id="357" r:id="rId7"/>
    <p:sldId id="358" r:id="rId8"/>
    <p:sldId id="359" r:id="rId9"/>
    <p:sldId id="375" r:id="rId10"/>
    <p:sldId id="360" r:id="rId11"/>
    <p:sldId id="363" r:id="rId12"/>
    <p:sldId id="364" r:id="rId13"/>
    <p:sldId id="365" r:id="rId14"/>
    <p:sldId id="366" r:id="rId15"/>
    <p:sldId id="368" r:id="rId16"/>
    <p:sldId id="369" r:id="rId17"/>
    <p:sldId id="367" r:id="rId18"/>
    <p:sldId id="370" r:id="rId19"/>
    <p:sldId id="372" r:id="rId20"/>
    <p:sldId id="374" r:id="rId21"/>
    <p:sldId id="35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09" autoAdjust="0"/>
    <p:restoredTop sz="94660" autoAdjust="0"/>
  </p:normalViewPr>
  <p:slideViewPr>
    <p:cSldViewPr snapToGrid="0">
      <p:cViewPr varScale="1">
        <p:scale>
          <a:sx n="65" d="100"/>
          <a:sy n="65" d="100"/>
        </p:scale>
        <p:origin x="702" y="78"/>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[Latest.xlsx]Sheet1!PivotTable1</c:name>
    <c:fmtId val="5"/>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CUSTOMER PROFILE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Sheet1!$B$7:$B$8</c:f>
              <c:strCache>
                <c:ptCount val="1"/>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Sheet1!$B$9:$B$14</c:f>
              <c:numCache>
                <c:formatCode>General</c:formatCode>
                <c:ptCount val="5"/>
                <c:pt idx="1">
                  <c:v>218</c:v>
                </c:pt>
              </c:numCache>
            </c:numRef>
          </c:val>
          <c:extLst>
            <c:ext xmlns:c16="http://schemas.microsoft.com/office/drawing/2014/chart" uri="{C3380CC4-5D6E-409C-BE32-E72D297353CC}">
              <c16:uniqueId val="{00000000-1D1D-4B2B-B792-904619B5151B}"/>
            </c:ext>
          </c:extLst>
        </c:ser>
        <c:ser>
          <c:idx val="1"/>
          <c:order val="1"/>
          <c:tx>
            <c:strRef>
              <c:f>Sheet1!$C$7:$C$8</c:f>
              <c:strCache>
                <c:ptCount val="1"/>
                <c:pt idx="0">
                  <c:v>female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Sheet1!$C$9:$C$14</c:f>
              <c:numCache>
                <c:formatCode>General</c:formatCode>
                <c:ptCount val="5"/>
                <c:pt idx="0">
                  <c:v>27</c:v>
                </c:pt>
                <c:pt idx="1">
                  <c:v>13</c:v>
                </c:pt>
                <c:pt idx="2">
                  <c:v>312</c:v>
                </c:pt>
                <c:pt idx="3">
                  <c:v>65</c:v>
                </c:pt>
                <c:pt idx="4">
                  <c:v>609</c:v>
                </c:pt>
              </c:numCache>
            </c:numRef>
          </c:val>
          <c:extLst>
            <c:ext xmlns:c16="http://schemas.microsoft.com/office/drawing/2014/chart" uri="{C3380CC4-5D6E-409C-BE32-E72D297353CC}">
              <c16:uniqueId val="{00000001-1D1D-4B2B-B792-904619B5151B}"/>
            </c:ext>
          </c:extLst>
        </c:ser>
        <c:ser>
          <c:idx val="2"/>
          <c:order val="2"/>
          <c:tx>
            <c:strRef>
              <c:f>Sheet1!$D$7:$D$8</c:f>
              <c:strCache>
                <c:ptCount val="1"/>
                <c:pt idx="0">
                  <c:v>male</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Sheet1!$D$9:$D$14</c:f>
              <c:numCache>
                <c:formatCode>General</c:formatCode>
                <c:ptCount val="5"/>
                <c:pt idx="0">
                  <c:v>73</c:v>
                </c:pt>
                <c:pt idx="1">
                  <c:v>97</c:v>
                </c:pt>
                <c:pt idx="2">
                  <c:v>3100</c:v>
                </c:pt>
                <c:pt idx="3">
                  <c:v>394</c:v>
                </c:pt>
                <c:pt idx="4">
                  <c:v>5292</c:v>
                </c:pt>
              </c:numCache>
            </c:numRef>
          </c:val>
          <c:extLst>
            <c:ext xmlns:c16="http://schemas.microsoft.com/office/drawing/2014/chart" uri="{C3380CC4-5D6E-409C-BE32-E72D297353CC}">
              <c16:uniqueId val="{00000002-1D1D-4B2B-B792-904619B5151B}"/>
            </c:ext>
          </c:extLst>
        </c:ser>
        <c:ser>
          <c:idx val="3"/>
          <c:order val="3"/>
          <c:tx>
            <c:strRef>
              <c:f>Sheet1!$E$7:$E$8</c:f>
              <c:strCache>
                <c:ptCount val="1"/>
                <c:pt idx="0">
                  <c:v>None</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Sheet1!$E$9:$E$14</c:f>
              <c:numCache>
                <c:formatCode>General</c:formatCode>
                <c:ptCount val="5"/>
                <c:pt idx="1">
                  <c:v>785</c:v>
                </c:pt>
                <c:pt idx="2">
                  <c:v>3</c:v>
                </c:pt>
                <c:pt idx="3">
                  <c:v>1</c:v>
                </c:pt>
              </c:numCache>
            </c:numRef>
          </c:val>
          <c:extLst>
            <c:ext xmlns:c16="http://schemas.microsoft.com/office/drawing/2014/chart" uri="{C3380CC4-5D6E-409C-BE32-E72D297353CC}">
              <c16:uniqueId val="{00000003-1D1D-4B2B-B792-904619B5151B}"/>
            </c:ext>
          </c:extLst>
        </c:ser>
        <c:dLbls>
          <c:dLblPos val="outEnd"/>
          <c:showLegendKey val="0"/>
          <c:showVal val="1"/>
          <c:showCatName val="0"/>
          <c:showSerName val="0"/>
          <c:showPercent val="0"/>
          <c:showBubbleSize val="0"/>
        </c:dLbls>
        <c:gapWidth val="444"/>
        <c:overlap val="-90"/>
        <c:axId val="541880000"/>
        <c:axId val="541869440"/>
      </c:barChart>
      <c:catAx>
        <c:axId val="5418800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541869440"/>
        <c:crosses val="autoZero"/>
        <c:auto val="1"/>
        <c:lblAlgn val="ctr"/>
        <c:lblOffset val="100"/>
        <c:noMultiLvlLbl val="0"/>
      </c:catAx>
      <c:valAx>
        <c:axId val="541869440"/>
        <c:scaling>
          <c:orientation val="minMax"/>
        </c:scaling>
        <c:delete val="1"/>
        <c:axPos val="l"/>
        <c:numFmt formatCode="General" sourceLinked="1"/>
        <c:majorTickMark val="none"/>
        <c:minorTickMark val="none"/>
        <c:tickLblPos val="nextTo"/>
        <c:crossAx val="5418800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[Latest.xlsx]Sheet1!PivotTable2</c:name>
    <c:fmtId val="3"/>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CUSTOMER PROFILE BY PROVINCE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Sheet1!$B$24</c:f>
              <c:strCache>
                <c:ptCount val="1"/>
                <c:pt idx="0">
                  <c:v>Total</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Sheet1!$A$25:$A$76</c:f>
              <c:multiLvlStrCache>
                <c:ptCount val="46"/>
                <c:lvl>
                  <c:pt idx="0">
                    <c:v>Eastern Cape</c:v>
                  </c:pt>
                  <c:pt idx="1">
                    <c:v>Free State</c:v>
                  </c:pt>
                  <c:pt idx="2">
                    <c:v>Gauteng</c:v>
                  </c:pt>
                  <c:pt idx="3">
                    <c:v>Kwazulu Natal</c:v>
                  </c:pt>
                  <c:pt idx="4">
                    <c:v>Limpopo</c:v>
                  </c:pt>
                  <c:pt idx="5">
                    <c:v>Mpumalanga</c:v>
                  </c:pt>
                  <c:pt idx="6">
                    <c:v>Western Cape</c:v>
                  </c:pt>
                  <c:pt idx="8">
                    <c:v>Eastern Cape</c:v>
                  </c:pt>
                  <c:pt idx="9">
                    <c:v>Gauteng</c:v>
                  </c:pt>
                  <c:pt idx="10">
                    <c:v>Kwazulu Natal</c:v>
                  </c:pt>
                  <c:pt idx="11">
                    <c:v>Limpopo</c:v>
                  </c:pt>
                  <c:pt idx="12">
                    <c:v>Mpumalanga</c:v>
                  </c:pt>
                  <c:pt idx="13">
                    <c:v>None</c:v>
                  </c:pt>
                  <c:pt idx="14">
                    <c:v>North West</c:v>
                  </c:pt>
                  <c:pt idx="15">
                    <c:v>Northern Cape</c:v>
                  </c:pt>
                  <c:pt idx="16">
                    <c:v>Western Cape</c:v>
                  </c:pt>
                  <c:pt idx="17">
                    <c:v>Eastern Cape</c:v>
                  </c:pt>
                  <c:pt idx="18">
                    <c:v>Free State</c:v>
                  </c:pt>
                  <c:pt idx="19">
                    <c:v>Gauteng</c:v>
                  </c:pt>
                  <c:pt idx="20">
                    <c:v>Kwazulu Natal</c:v>
                  </c:pt>
                  <c:pt idx="21">
                    <c:v>Limpopo</c:v>
                  </c:pt>
                  <c:pt idx="22">
                    <c:v>Mpumalanga</c:v>
                  </c:pt>
                  <c:pt idx="23">
                    <c:v>None</c:v>
                  </c:pt>
                  <c:pt idx="24">
                    <c:v>North West</c:v>
                  </c:pt>
                  <c:pt idx="25">
                    <c:v>Northern Cape</c:v>
                  </c:pt>
                  <c:pt idx="26">
                    <c:v>Western Cape</c:v>
                  </c:pt>
                  <c:pt idx="27">
                    <c:v>Eastern Cape</c:v>
                  </c:pt>
                  <c:pt idx="28">
                    <c:v>Free State</c:v>
                  </c:pt>
                  <c:pt idx="29">
                    <c:v>Gauteng</c:v>
                  </c:pt>
                  <c:pt idx="30">
                    <c:v>Kwazulu Natal</c:v>
                  </c:pt>
                  <c:pt idx="31">
                    <c:v>Limpopo</c:v>
                  </c:pt>
                  <c:pt idx="32">
                    <c:v>Mpumalanga</c:v>
                  </c:pt>
                  <c:pt idx="33">
                    <c:v>None</c:v>
                  </c:pt>
                  <c:pt idx="34">
                    <c:v>North West</c:v>
                  </c:pt>
                  <c:pt idx="35">
                    <c:v>Northern Cape</c:v>
                  </c:pt>
                  <c:pt idx="36">
                    <c:v>Western Cape</c:v>
                  </c:pt>
                  <c:pt idx="37">
                    <c:v>Eastern Cape</c:v>
                  </c:pt>
                  <c:pt idx="38">
                    <c:v>Free State</c:v>
                  </c:pt>
                  <c:pt idx="39">
                    <c:v>Gauteng</c:v>
                  </c:pt>
                  <c:pt idx="40">
                    <c:v>Kwazulu Natal</c:v>
                  </c:pt>
                  <c:pt idx="41">
                    <c:v>Limpopo</c:v>
                  </c:pt>
                  <c:pt idx="42">
                    <c:v>Mpumalanga</c:v>
                  </c:pt>
                  <c:pt idx="43">
                    <c:v>North West</c:v>
                  </c:pt>
                  <c:pt idx="44">
                    <c:v>Northern Cape</c:v>
                  </c:pt>
                  <c:pt idx="45">
                    <c:v>Western Cape</c:v>
                  </c:pt>
                </c:lvl>
                <c:lvl>
                  <c:pt idx="0">
                    <c:v>Child</c:v>
                  </c:pt>
                  <c:pt idx="7">
                    <c:v>Elderly</c:v>
                  </c:pt>
                  <c:pt idx="17">
                    <c:v>Middle age adult</c:v>
                  </c:pt>
                  <c:pt idx="27">
                    <c:v>Teenage</c:v>
                  </c:pt>
                  <c:pt idx="37">
                    <c:v>Youth</c:v>
                  </c:pt>
                </c:lvl>
              </c:multiLvlStrCache>
            </c:multiLvlStrRef>
          </c:cat>
          <c:val>
            <c:numRef>
              <c:f>Sheet1!$B$25:$B$76</c:f>
              <c:numCache>
                <c:formatCode>General</c:formatCode>
                <c:ptCount val="46"/>
                <c:pt idx="0">
                  <c:v>24</c:v>
                </c:pt>
                <c:pt idx="1">
                  <c:v>6</c:v>
                </c:pt>
                <c:pt idx="2">
                  <c:v>15</c:v>
                </c:pt>
                <c:pt idx="3">
                  <c:v>5</c:v>
                </c:pt>
                <c:pt idx="4">
                  <c:v>24</c:v>
                </c:pt>
                <c:pt idx="5">
                  <c:v>3</c:v>
                </c:pt>
                <c:pt idx="6">
                  <c:v>23</c:v>
                </c:pt>
                <c:pt idx="7">
                  <c:v>218</c:v>
                </c:pt>
                <c:pt idx="8">
                  <c:v>15</c:v>
                </c:pt>
                <c:pt idx="9">
                  <c:v>32</c:v>
                </c:pt>
                <c:pt idx="10">
                  <c:v>13</c:v>
                </c:pt>
                <c:pt idx="11">
                  <c:v>9</c:v>
                </c:pt>
                <c:pt idx="12">
                  <c:v>3</c:v>
                </c:pt>
                <c:pt idx="13">
                  <c:v>785</c:v>
                </c:pt>
                <c:pt idx="14">
                  <c:v>5</c:v>
                </c:pt>
                <c:pt idx="15">
                  <c:v>7</c:v>
                </c:pt>
                <c:pt idx="16">
                  <c:v>26</c:v>
                </c:pt>
                <c:pt idx="17">
                  <c:v>238</c:v>
                </c:pt>
                <c:pt idx="18">
                  <c:v>89</c:v>
                </c:pt>
                <c:pt idx="19">
                  <c:v>1302</c:v>
                </c:pt>
                <c:pt idx="20">
                  <c:v>353</c:v>
                </c:pt>
                <c:pt idx="21">
                  <c:v>165</c:v>
                </c:pt>
                <c:pt idx="22">
                  <c:v>248</c:v>
                </c:pt>
                <c:pt idx="23">
                  <c:v>3</c:v>
                </c:pt>
                <c:pt idx="24">
                  <c:v>117</c:v>
                </c:pt>
                <c:pt idx="25">
                  <c:v>95</c:v>
                </c:pt>
                <c:pt idx="26">
                  <c:v>805</c:v>
                </c:pt>
                <c:pt idx="27">
                  <c:v>51</c:v>
                </c:pt>
                <c:pt idx="28">
                  <c:v>32</c:v>
                </c:pt>
                <c:pt idx="29">
                  <c:v>169</c:v>
                </c:pt>
                <c:pt idx="30">
                  <c:v>59</c:v>
                </c:pt>
                <c:pt idx="31">
                  <c:v>31</c:v>
                </c:pt>
                <c:pt idx="32">
                  <c:v>52</c:v>
                </c:pt>
                <c:pt idx="33">
                  <c:v>1</c:v>
                </c:pt>
                <c:pt idx="34">
                  <c:v>19</c:v>
                </c:pt>
                <c:pt idx="35">
                  <c:v>11</c:v>
                </c:pt>
                <c:pt idx="36">
                  <c:v>35</c:v>
                </c:pt>
                <c:pt idx="37">
                  <c:v>378</c:v>
                </c:pt>
                <c:pt idx="38">
                  <c:v>174</c:v>
                </c:pt>
                <c:pt idx="39">
                  <c:v>2233</c:v>
                </c:pt>
                <c:pt idx="40">
                  <c:v>604</c:v>
                </c:pt>
                <c:pt idx="41">
                  <c:v>560</c:v>
                </c:pt>
                <c:pt idx="42">
                  <c:v>642</c:v>
                </c:pt>
                <c:pt idx="43">
                  <c:v>212</c:v>
                </c:pt>
                <c:pt idx="44">
                  <c:v>121</c:v>
                </c:pt>
                <c:pt idx="45">
                  <c:v>977</c:v>
                </c:pt>
              </c:numCache>
            </c:numRef>
          </c:val>
          <c:extLst>
            <c:ext xmlns:c16="http://schemas.microsoft.com/office/drawing/2014/chart" uri="{C3380CC4-5D6E-409C-BE32-E72D297353CC}">
              <c16:uniqueId val="{00000000-C41B-46A9-B049-6D6B22373C79}"/>
            </c:ext>
          </c:extLst>
        </c:ser>
        <c:dLbls>
          <c:dLblPos val="outEnd"/>
          <c:showLegendKey val="0"/>
          <c:showVal val="1"/>
          <c:showCatName val="0"/>
          <c:showSerName val="0"/>
          <c:showPercent val="0"/>
          <c:showBubbleSize val="0"/>
        </c:dLbls>
        <c:gapWidth val="444"/>
        <c:overlap val="-90"/>
        <c:axId val="541831520"/>
        <c:axId val="541840160"/>
      </c:barChart>
      <c:catAx>
        <c:axId val="5418315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541840160"/>
        <c:crosses val="autoZero"/>
        <c:auto val="1"/>
        <c:lblAlgn val="ctr"/>
        <c:lblOffset val="100"/>
        <c:noMultiLvlLbl val="0"/>
      </c:catAx>
      <c:valAx>
        <c:axId val="541840160"/>
        <c:scaling>
          <c:orientation val="minMax"/>
        </c:scaling>
        <c:delete val="1"/>
        <c:axPos val="l"/>
        <c:numFmt formatCode="General" sourceLinked="1"/>
        <c:majorTickMark val="none"/>
        <c:minorTickMark val="none"/>
        <c:tickLblPos val="nextTo"/>
        <c:crossAx val="5418315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[Latest.xlsx]Sheet1!PivotTable3</c:name>
    <c:fmtId val="4"/>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CUSTOMER PROFILE BY RACE AND GENDER</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Sheet1!$B$83:$B$84</c:f>
              <c:strCache>
                <c:ptCount val="1"/>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Sheet1!$B$85:$B$92</c:f>
              <c:numCache>
                <c:formatCode>General</c:formatCode>
                <c:ptCount val="7"/>
                <c:pt idx="0">
                  <c:v>218</c:v>
                </c:pt>
              </c:numCache>
            </c:numRef>
          </c:val>
          <c:extLst>
            <c:ext xmlns:c16="http://schemas.microsoft.com/office/drawing/2014/chart" uri="{C3380CC4-5D6E-409C-BE32-E72D297353CC}">
              <c16:uniqueId val="{00000000-7DEE-4A88-814F-24F15F4F9EA5}"/>
            </c:ext>
          </c:extLst>
        </c:ser>
        <c:ser>
          <c:idx val="1"/>
          <c:order val="1"/>
          <c:tx>
            <c:strRef>
              <c:f>Sheet1!$C$83:$C$84</c:f>
              <c:strCache>
                <c:ptCount val="1"/>
                <c:pt idx="0">
                  <c:v>female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Sheet1!$C$85:$C$92</c:f>
              <c:numCache>
                <c:formatCode>General</c:formatCode>
                <c:ptCount val="7"/>
                <c:pt idx="0">
                  <c:v>4</c:v>
                </c:pt>
                <c:pt idx="1">
                  <c:v>532</c:v>
                </c:pt>
                <c:pt idx="2">
                  <c:v>139</c:v>
                </c:pt>
                <c:pt idx="3">
                  <c:v>93</c:v>
                </c:pt>
                <c:pt idx="4">
                  <c:v>127</c:v>
                </c:pt>
                <c:pt idx="5">
                  <c:v>8</c:v>
                </c:pt>
                <c:pt idx="6">
                  <c:v>123</c:v>
                </c:pt>
              </c:numCache>
            </c:numRef>
          </c:val>
          <c:extLst>
            <c:ext xmlns:c16="http://schemas.microsoft.com/office/drawing/2014/chart" uri="{C3380CC4-5D6E-409C-BE32-E72D297353CC}">
              <c16:uniqueId val="{00000001-7DEE-4A88-814F-24F15F4F9EA5}"/>
            </c:ext>
          </c:extLst>
        </c:ser>
        <c:ser>
          <c:idx val="2"/>
          <c:order val="2"/>
          <c:tx>
            <c:strRef>
              <c:f>Sheet1!$D$83:$D$84</c:f>
              <c:strCache>
                <c:ptCount val="1"/>
                <c:pt idx="0">
                  <c:v>male</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Sheet1!$D$85:$D$92</c:f>
              <c:numCache>
                <c:formatCode>General</c:formatCode>
                <c:ptCount val="7"/>
                <c:pt idx="0">
                  <c:v>11</c:v>
                </c:pt>
                <c:pt idx="1">
                  <c:v>3948</c:v>
                </c:pt>
                <c:pt idx="2">
                  <c:v>1520</c:v>
                </c:pt>
                <c:pt idx="3">
                  <c:v>1494</c:v>
                </c:pt>
                <c:pt idx="4">
                  <c:v>680</c:v>
                </c:pt>
                <c:pt idx="5">
                  <c:v>100</c:v>
                </c:pt>
                <c:pt idx="6">
                  <c:v>1203</c:v>
                </c:pt>
              </c:numCache>
            </c:numRef>
          </c:val>
          <c:extLst>
            <c:ext xmlns:c16="http://schemas.microsoft.com/office/drawing/2014/chart" uri="{C3380CC4-5D6E-409C-BE32-E72D297353CC}">
              <c16:uniqueId val="{00000002-7DEE-4A88-814F-24F15F4F9EA5}"/>
            </c:ext>
          </c:extLst>
        </c:ser>
        <c:ser>
          <c:idx val="3"/>
          <c:order val="3"/>
          <c:tx>
            <c:strRef>
              <c:f>Sheet1!$E$83:$E$84</c:f>
              <c:strCache>
                <c:ptCount val="1"/>
                <c:pt idx="0">
                  <c:v>None</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Sheet1!$E$85:$E$92</c:f>
              <c:numCache>
                <c:formatCode>General</c:formatCode>
                <c:ptCount val="7"/>
                <c:pt idx="3">
                  <c:v>1</c:v>
                </c:pt>
                <c:pt idx="4">
                  <c:v>788</c:v>
                </c:pt>
              </c:numCache>
            </c:numRef>
          </c:val>
          <c:extLst>
            <c:ext xmlns:c16="http://schemas.microsoft.com/office/drawing/2014/chart" uri="{C3380CC4-5D6E-409C-BE32-E72D297353CC}">
              <c16:uniqueId val="{00000003-7DEE-4A88-814F-24F15F4F9EA5}"/>
            </c:ext>
          </c:extLst>
        </c:ser>
        <c:dLbls>
          <c:dLblPos val="outEnd"/>
          <c:showLegendKey val="0"/>
          <c:showVal val="1"/>
          <c:showCatName val="0"/>
          <c:showSerName val="0"/>
          <c:showPercent val="0"/>
          <c:showBubbleSize val="0"/>
        </c:dLbls>
        <c:gapWidth val="444"/>
        <c:overlap val="-90"/>
        <c:axId val="541849280"/>
        <c:axId val="541841600"/>
      </c:barChart>
      <c:catAx>
        <c:axId val="5418492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541841600"/>
        <c:crosses val="autoZero"/>
        <c:auto val="1"/>
        <c:lblAlgn val="ctr"/>
        <c:lblOffset val="100"/>
        <c:noMultiLvlLbl val="0"/>
      </c:catAx>
      <c:valAx>
        <c:axId val="541841600"/>
        <c:scaling>
          <c:orientation val="minMax"/>
        </c:scaling>
        <c:delete val="1"/>
        <c:axPos val="l"/>
        <c:numFmt formatCode="General" sourceLinked="1"/>
        <c:majorTickMark val="none"/>
        <c:minorTickMark val="none"/>
        <c:tickLblPos val="nextTo"/>
        <c:crossAx val="5418492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[Latest.xlsx]Sheet1!PivotTable4</c:name>
    <c:fmtId val="4"/>
  </c:pivotSource>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US"/>
              <a:t>AGE GROUP DISTRIBUTION</a:t>
            </a:r>
          </a:p>
        </c:rich>
      </c:tx>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ontourW="25400">
            <a:contourClr>
              <a:schemeClr val="lt1"/>
            </a:contourClr>
          </a:sp3d>
        </c:spPr>
      </c:pivotFmt>
      <c:pivotFmt>
        <c:idx val="2"/>
        <c:spPr>
          <a:solidFill>
            <a:schemeClr val="accent2"/>
          </a:solidFill>
          <a:ln>
            <a:noFill/>
          </a:ln>
          <a:effectLst/>
          <a:sp3d contourW="25400">
            <a:contourClr>
              <a:schemeClr val="lt1"/>
            </a:contourClr>
          </a:sp3d>
        </c:spPr>
      </c:pivotFmt>
      <c:pivotFmt>
        <c:idx val="3"/>
        <c:spPr>
          <a:solidFill>
            <a:schemeClr val="accent2"/>
          </a:solidFill>
          <a:ln>
            <a:noFill/>
          </a:ln>
          <a:effectLst/>
          <a:sp3d contourW="25400">
            <a:contourClr>
              <a:schemeClr val="lt1"/>
            </a:contourClr>
          </a:sp3d>
        </c:spPr>
      </c:pivotFmt>
      <c:pivotFmt>
        <c:idx val="4"/>
        <c:spPr>
          <a:solidFill>
            <a:schemeClr val="accent2"/>
          </a:solidFill>
          <a:ln>
            <a:noFill/>
          </a:ln>
          <a:effectLst/>
          <a:sp3d contourW="25400">
            <a:contourClr>
              <a:schemeClr val="lt1"/>
            </a:contourClr>
          </a:sp3d>
        </c:spPr>
      </c:pivotFmt>
      <c:pivotFmt>
        <c:idx val="5"/>
        <c:spPr>
          <a:solidFill>
            <a:schemeClr val="accent2"/>
          </a:solidFill>
          <a:ln>
            <a:noFill/>
          </a:ln>
          <a:effectLst/>
          <a:sp3d contourW="25400">
            <a:contourClr>
              <a:schemeClr val="lt1"/>
            </a:contourClr>
          </a:sp3d>
        </c:spPr>
      </c:pivotFmt>
      <c:pivotFmt>
        <c:idx val="6"/>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a:sp3d contourW="25400">
            <a:contourClr>
              <a:schemeClr val="lt1"/>
            </a:contourClr>
          </a:sp3d>
        </c:spPr>
      </c:pivotFmt>
      <c:pivotFmt>
        <c:idx val="8"/>
        <c:spPr>
          <a:solidFill>
            <a:schemeClr val="accent2"/>
          </a:solidFill>
          <a:ln>
            <a:noFill/>
          </a:ln>
          <a:effectLst/>
          <a:sp3d contourW="25400">
            <a:contourClr>
              <a:schemeClr val="lt1"/>
            </a:contourClr>
          </a:sp3d>
        </c:spPr>
      </c:pivotFmt>
      <c:pivotFmt>
        <c:idx val="9"/>
        <c:spPr>
          <a:solidFill>
            <a:schemeClr val="accent2"/>
          </a:solidFill>
          <a:ln>
            <a:noFill/>
          </a:ln>
          <a:effectLst/>
          <a:sp3d contourW="25400">
            <a:contourClr>
              <a:schemeClr val="lt1"/>
            </a:contourClr>
          </a:sp3d>
        </c:spPr>
      </c:pivotFmt>
      <c:pivotFmt>
        <c:idx val="10"/>
        <c:spPr>
          <a:solidFill>
            <a:schemeClr val="accent2"/>
          </a:solidFill>
          <a:ln>
            <a:noFill/>
          </a:ln>
          <a:effectLst/>
          <a:sp3d contourW="25400">
            <a:contourClr>
              <a:schemeClr val="lt1"/>
            </a:contourClr>
          </a:sp3d>
        </c:spPr>
      </c:pivotFmt>
      <c:pivotFmt>
        <c:idx val="11"/>
        <c:spPr>
          <a:solidFill>
            <a:schemeClr val="accent2"/>
          </a:solidFill>
          <a:ln>
            <a:noFill/>
          </a:ln>
          <a:effectLst/>
          <a:sp3d contourW="25400">
            <a:contourClr>
              <a:schemeClr val="lt1"/>
            </a:contourClr>
          </a:sp3d>
        </c:spPr>
      </c:pivotFmt>
      <c:pivotFmt>
        <c:idx val="12"/>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a:sp3d contourW="25400">
            <a:contourClr>
              <a:schemeClr val="lt1"/>
            </a:contourClr>
          </a:sp3d>
        </c:spPr>
      </c:pivotFmt>
      <c:pivotFmt>
        <c:idx val="14"/>
        <c:spPr>
          <a:solidFill>
            <a:schemeClr val="accent2"/>
          </a:solidFill>
          <a:ln>
            <a:noFill/>
          </a:ln>
          <a:effectLst/>
          <a:sp3d contourW="25400">
            <a:contourClr>
              <a:schemeClr val="lt1"/>
            </a:contourClr>
          </a:sp3d>
        </c:spPr>
      </c:pivotFmt>
      <c:pivotFmt>
        <c:idx val="15"/>
        <c:spPr>
          <a:solidFill>
            <a:schemeClr val="accent2"/>
          </a:solidFill>
          <a:ln>
            <a:noFill/>
          </a:ln>
          <a:effectLst/>
          <a:sp3d contourW="25400">
            <a:contourClr>
              <a:schemeClr val="lt1"/>
            </a:contourClr>
          </a:sp3d>
        </c:spPr>
      </c:pivotFmt>
      <c:pivotFmt>
        <c:idx val="16"/>
        <c:spPr>
          <a:solidFill>
            <a:schemeClr val="accent2"/>
          </a:solidFill>
          <a:ln>
            <a:noFill/>
          </a:ln>
          <a:effectLst/>
          <a:sp3d contourW="25400">
            <a:contourClr>
              <a:schemeClr val="lt1"/>
            </a:contourClr>
          </a:sp3d>
        </c:spPr>
      </c:pivotFmt>
      <c:pivotFmt>
        <c:idx val="17"/>
        <c:spPr>
          <a:solidFill>
            <a:schemeClr val="accent2"/>
          </a:solidFill>
          <a:ln>
            <a:no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Sheet1!$B$100</c:f>
              <c:strCache>
                <c:ptCount val="1"/>
                <c:pt idx="0">
                  <c:v>Total</c:v>
                </c:pt>
              </c:strCache>
            </c:strRef>
          </c:tx>
          <c:dPt>
            <c:idx val="0"/>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0077-4200-BCF8-A1C41598F960}"/>
              </c:ext>
            </c:extLst>
          </c:dPt>
          <c:dPt>
            <c:idx val="1"/>
            <c:bubble3D val="0"/>
            <c:spPr>
              <a:solidFill>
                <a:schemeClr val="accent4"/>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0077-4200-BCF8-A1C41598F960}"/>
              </c:ext>
            </c:extLst>
          </c:dPt>
          <c:dPt>
            <c:idx val="2"/>
            <c:bubble3D val="0"/>
            <c:spPr>
              <a:solidFill>
                <a:schemeClr val="accent6"/>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5-0077-4200-BCF8-A1C41598F960}"/>
              </c:ext>
            </c:extLst>
          </c:dPt>
          <c:dPt>
            <c:idx val="3"/>
            <c:bubble3D val="0"/>
            <c:spPr>
              <a:solidFill>
                <a:schemeClr val="accent2">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7-0077-4200-BCF8-A1C41598F960}"/>
              </c:ext>
            </c:extLst>
          </c:dPt>
          <c:dPt>
            <c:idx val="4"/>
            <c:bubble3D val="0"/>
            <c:spPr>
              <a:solidFill>
                <a:schemeClr val="accent4">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9-0077-4200-BCF8-A1C41598F960}"/>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0077-4200-BCF8-A1C41598F960}"/>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0077-4200-BCF8-A1C41598F960}"/>
                </c:ext>
              </c:extLst>
            </c:dLbl>
            <c:dLbl>
              <c:idx val="2"/>
              <c:layout>
                <c:manualLayout>
                  <c:x val="0"/>
                  <c:y val="-0.17737107048086323"/>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6"/>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077-4200-BCF8-A1C41598F960}"/>
                </c:ext>
              </c:extLst>
            </c:dLbl>
            <c:dLbl>
              <c:idx val="3"/>
              <c:layout>
                <c:manualLayout>
                  <c:x val="-4.5209187717268944E-2"/>
                  <c:y val="-1.0282380897441441E-2"/>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lumMod val="60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0077-4200-BCF8-A1C41598F960}"/>
                </c:ext>
              </c:extLst>
            </c:dLbl>
            <c:dLbl>
              <c:idx val="4"/>
              <c:layout>
                <c:manualLayout>
                  <c:x val="1.8083675086907544E-2"/>
                  <c:y val="-0.10796499942313409"/>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lumMod val="60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0077-4200-BCF8-A1C41598F960}"/>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Sheet1!$A$101:$A$106</c:f>
              <c:strCache>
                <c:ptCount val="5"/>
                <c:pt idx="0">
                  <c:v>Child</c:v>
                </c:pt>
                <c:pt idx="1">
                  <c:v>Elderly</c:v>
                </c:pt>
                <c:pt idx="2">
                  <c:v>Middle age adult</c:v>
                </c:pt>
                <c:pt idx="3">
                  <c:v>Teenage</c:v>
                </c:pt>
                <c:pt idx="4">
                  <c:v>Youth</c:v>
                </c:pt>
              </c:strCache>
            </c:strRef>
          </c:cat>
          <c:val>
            <c:numRef>
              <c:f>Sheet1!$B$101:$B$106</c:f>
              <c:numCache>
                <c:formatCode>General</c:formatCode>
                <c:ptCount val="5"/>
                <c:pt idx="0">
                  <c:v>100</c:v>
                </c:pt>
                <c:pt idx="1">
                  <c:v>1113</c:v>
                </c:pt>
                <c:pt idx="2">
                  <c:v>3415</c:v>
                </c:pt>
                <c:pt idx="3">
                  <c:v>460</c:v>
                </c:pt>
                <c:pt idx="4">
                  <c:v>5901</c:v>
                </c:pt>
              </c:numCache>
            </c:numRef>
          </c:val>
          <c:extLst>
            <c:ext xmlns:c16="http://schemas.microsoft.com/office/drawing/2014/chart" uri="{C3380CC4-5D6E-409C-BE32-E72D297353CC}">
              <c16:uniqueId val="{0000000A-0077-4200-BCF8-A1C41598F960}"/>
            </c:ext>
          </c:extLst>
        </c:ser>
        <c:dLbls>
          <c:dLblPos val="outEnd"/>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[Latest.xlsx]Sheet1!PivotTable5</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CHANNEL PREFERENCE BY USER PROFILE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Sheet1!$B$114:$B$115</c:f>
              <c:strCache>
                <c:ptCount val="1"/>
                <c:pt idx="0">
                  <c:v>Africa Magic</c:v>
                </c:pt>
              </c:strCache>
            </c:strRef>
          </c:tx>
          <c:spPr>
            <a:solidFill>
              <a:schemeClr val="accent1"/>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Sheet1!$B$116:$B$121</c:f>
              <c:numCache>
                <c:formatCode>General</c:formatCode>
                <c:ptCount val="5"/>
                <c:pt idx="0">
                  <c:v>9</c:v>
                </c:pt>
                <c:pt idx="1">
                  <c:v>20</c:v>
                </c:pt>
                <c:pt idx="2">
                  <c:v>347</c:v>
                </c:pt>
                <c:pt idx="3">
                  <c:v>29</c:v>
                </c:pt>
                <c:pt idx="4">
                  <c:v>454</c:v>
                </c:pt>
              </c:numCache>
            </c:numRef>
          </c:val>
          <c:extLst>
            <c:ext xmlns:c16="http://schemas.microsoft.com/office/drawing/2014/chart" uri="{C3380CC4-5D6E-409C-BE32-E72D297353CC}">
              <c16:uniqueId val="{00000000-AD47-430C-8F48-E45768D78373}"/>
            </c:ext>
          </c:extLst>
        </c:ser>
        <c:ser>
          <c:idx val="1"/>
          <c:order val="1"/>
          <c:tx>
            <c:strRef>
              <c:f>Sheet1!$C$114:$C$115</c:f>
              <c:strCache>
                <c:ptCount val="1"/>
                <c:pt idx="0">
                  <c:v>Boomerang</c:v>
                </c:pt>
              </c:strCache>
            </c:strRef>
          </c:tx>
          <c:spPr>
            <a:solidFill>
              <a:schemeClr val="accent2"/>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Sheet1!$C$116:$C$121</c:f>
              <c:numCache>
                <c:formatCode>General</c:formatCode>
                <c:ptCount val="5"/>
                <c:pt idx="0">
                  <c:v>6</c:v>
                </c:pt>
                <c:pt idx="1">
                  <c:v>19</c:v>
                </c:pt>
                <c:pt idx="2">
                  <c:v>241</c:v>
                </c:pt>
                <c:pt idx="3">
                  <c:v>36</c:v>
                </c:pt>
                <c:pt idx="4">
                  <c:v>412</c:v>
                </c:pt>
              </c:numCache>
            </c:numRef>
          </c:val>
          <c:extLst>
            <c:ext xmlns:c16="http://schemas.microsoft.com/office/drawing/2014/chart" uri="{C3380CC4-5D6E-409C-BE32-E72D297353CC}">
              <c16:uniqueId val="{00000001-AD47-430C-8F48-E45768D78373}"/>
            </c:ext>
          </c:extLst>
        </c:ser>
        <c:ser>
          <c:idx val="2"/>
          <c:order val="2"/>
          <c:tx>
            <c:strRef>
              <c:f>Sheet1!$D$114:$D$115</c:f>
              <c:strCache>
                <c:ptCount val="1"/>
                <c:pt idx="0">
                  <c:v>Break in transmission</c:v>
                </c:pt>
              </c:strCache>
            </c:strRef>
          </c:tx>
          <c:spPr>
            <a:solidFill>
              <a:schemeClr val="accent3"/>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Sheet1!$D$116:$D$121</c:f>
              <c:numCache>
                <c:formatCode>General</c:formatCode>
                <c:ptCount val="5"/>
                <c:pt idx="1">
                  <c:v>4</c:v>
                </c:pt>
                <c:pt idx="2">
                  <c:v>26</c:v>
                </c:pt>
                <c:pt idx="3">
                  <c:v>2</c:v>
                </c:pt>
                <c:pt idx="4">
                  <c:v>34</c:v>
                </c:pt>
              </c:numCache>
            </c:numRef>
          </c:val>
          <c:extLst>
            <c:ext xmlns:c16="http://schemas.microsoft.com/office/drawing/2014/chart" uri="{C3380CC4-5D6E-409C-BE32-E72D297353CC}">
              <c16:uniqueId val="{00000002-AD47-430C-8F48-E45768D78373}"/>
            </c:ext>
          </c:extLst>
        </c:ser>
        <c:ser>
          <c:idx val="3"/>
          <c:order val="3"/>
          <c:tx>
            <c:strRef>
              <c:f>Sheet1!$E$114:$E$115</c:f>
              <c:strCache>
                <c:ptCount val="1"/>
                <c:pt idx="0">
                  <c:v>Cartoon Network</c:v>
                </c:pt>
              </c:strCache>
            </c:strRef>
          </c:tx>
          <c:spPr>
            <a:solidFill>
              <a:schemeClr val="accent4"/>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Sheet1!$E$116:$E$121</c:f>
              <c:numCache>
                <c:formatCode>General</c:formatCode>
                <c:ptCount val="5"/>
                <c:pt idx="0">
                  <c:v>4</c:v>
                </c:pt>
                <c:pt idx="1">
                  <c:v>28</c:v>
                </c:pt>
                <c:pt idx="2">
                  <c:v>220</c:v>
                </c:pt>
                <c:pt idx="3">
                  <c:v>61</c:v>
                </c:pt>
                <c:pt idx="4">
                  <c:v>480</c:v>
                </c:pt>
              </c:numCache>
            </c:numRef>
          </c:val>
          <c:extLst>
            <c:ext xmlns:c16="http://schemas.microsoft.com/office/drawing/2014/chart" uri="{C3380CC4-5D6E-409C-BE32-E72D297353CC}">
              <c16:uniqueId val="{00000003-AD47-430C-8F48-E45768D78373}"/>
            </c:ext>
          </c:extLst>
        </c:ser>
        <c:ser>
          <c:idx val="4"/>
          <c:order val="4"/>
          <c:tx>
            <c:strRef>
              <c:f>Sheet1!$F$114:$F$115</c:f>
              <c:strCache>
                <c:ptCount val="1"/>
                <c:pt idx="0">
                  <c:v>Channel O</c:v>
                </c:pt>
              </c:strCache>
            </c:strRef>
          </c:tx>
          <c:spPr>
            <a:solidFill>
              <a:schemeClr val="accent5"/>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Sheet1!$F$116:$F$121</c:f>
              <c:numCache>
                <c:formatCode>General</c:formatCode>
                <c:ptCount val="5"/>
                <c:pt idx="0">
                  <c:v>10</c:v>
                </c:pt>
                <c:pt idx="1">
                  <c:v>33</c:v>
                </c:pt>
                <c:pt idx="2">
                  <c:v>264</c:v>
                </c:pt>
                <c:pt idx="3">
                  <c:v>71</c:v>
                </c:pt>
                <c:pt idx="4">
                  <c:v>672</c:v>
                </c:pt>
              </c:numCache>
            </c:numRef>
          </c:val>
          <c:extLst>
            <c:ext xmlns:c16="http://schemas.microsoft.com/office/drawing/2014/chart" uri="{C3380CC4-5D6E-409C-BE32-E72D297353CC}">
              <c16:uniqueId val="{00000004-AD47-430C-8F48-E45768D78373}"/>
            </c:ext>
          </c:extLst>
        </c:ser>
        <c:ser>
          <c:idx val="5"/>
          <c:order val="5"/>
          <c:tx>
            <c:strRef>
              <c:f>Sheet1!$G$114:$G$115</c:f>
              <c:strCache>
                <c:ptCount val="1"/>
                <c:pt idx="0">
                  <c:v>CNN</c:v>
                </c:pt>
              </c:strCache>
            </c:strRef>
          </c:tx>
          <c:spPr>
            <a:solidFill>
              <a:schemeClr val="accent6"/>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Sheet1!$G$116:$G$121</c:f>
              <c:numCache>
                <c:formatCode>General</c:formatCode>
                <c:ptCount val="5"/>
                <c:pt idx="0">
                  <c:v>3</c:v>
                </c:pt>
                <c:pt idx="1">
                  <c:v>21</c:v>
                </c:pt>
                <c:pt idx="2">
                  <c:v>285</c:v>
                </c:pt>
                <c:pt idx="3">
                  <c:v>11</c:v>
                </c:pt>
                <c:pt idx="4">
                  <c:v>185</c:v>
                </c:pt>
              </c:numCache>
            </c:numRef>
          </c:val>
          <c:extLst>
            <c:ext xmlns:c16="http://schemas.microsoft.com/office/drawing/2014/chart" uri="{C3380CC4-5D6E-409C-BE32-E72D297353CC}">
              <c16:uniqueId val="{00000005-AD47-430C-8F48-E45768D78373}"/>
            </c:ext>
          </c:extLst>
        </c:ser>
        <c:ser>
          <c:idx val="6"/>
          <c:order val="6"/>
          <c:tx>
            <c:strRef>
              <c:f>Sheet1!$H$114:$H$115</c:f>
              <c:strCache>
                <c:ptCount val="1"/>
                <c:pt idx="0">
                  <c:v>DStv Events 1</c:v>
                </c:pt>
              </c:strCache>
            </c:strRef>
          </c:tx>
          <c:spPr>
            <a:solidFill>
              <a:schemeClr val="accent1">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Sheet1!$H$116:$H$121</c:f>
              <c:numCache>
                <c:formatCode>General</c:formatCode>
                <c:ptCount val="5"/>
                <c:pt idx="0">
                  <c:v>2</c:v>
                </c:pt>
                <c:pt idx="1">
                  <c:v>7</c:v>
                </c:pt>
                <c:pt idx="2">
                  <c:v>36</c:v>
                </c:pt>
                <c:pt idx="3">
                  <c:v>2</c:v>
                </c:pt>
                <c:pt idx="4">
                  <c:v>60</c:v>
                </c:pt>
              </c:numCache>
            </c:numRef>
          </c:val>
          <c:extLst>
            <c:ext xmlns:c16="http://schemas.microsoft.com/office/drawing/2014/chart" uri="{C3380CC4-5D6E-409C-BE32-E72D297353CC}">
              <c16:uniqueId val="{00000006-AD47-430C-8F48-E45768D78373}"/>
            </c:ext>
          </c:extLst>
        </c:ser>
        <c:ser>
          <c:idx val="7"/>
          <c:order val="7"/>
          <c:tx>
            <c:strRef>
              <c:f>Sheet1!$I$114:$I$115</c:f>
              <c:strCache>
                <c:ptCount val="1"/>
                <c:pt idx="0">
                  <c:v>E! Entertainment</c:v>
                </c:pt>
              </c:strCache>
            </c:strRef>
          </c:tx>
          <c:spPr>
            <a:solidFill>
              <a:schemeClr val="accent2">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Sheet1!$I$116:$I$121</c:f>
              <c:numCache>
                <c:formatCode>General</c:formatCode>
                <c:ptCount val="5"/>
                <c:pt idx="0">
                  <c:v>1</c:v>
                </c:pt>
                <c:pt idx="1">
                  <c:v>18</c:v>
                </c:pt>
                <c:pt idx="2">
                  <c:v>97</c:v>
                </c:pt>
                <c:pt idx="3">
                  <c:v>12</c:v>
                </c:pt>
                <c:pt idx="4">
                  <c:v>239</c:v>
                </c:pt>
              </c:numCache>
            </c:numRef>
          </c:val>
          <c:extLst>
            <c:ext xmlns:c16="http://schemas.microsoft.com/office/drawing/2014/chart" uri="{C3380CC4-5D6E-409C-BE32-E72D297353CC}">
              <c16:uniqueId val="{00000007-AD47-430C-8F48-E45768D78373}"/>
            </c:ext>
          </c:extLst>
        </c:ser>
        <c:ser>
          <c:idx val="8"/>
          <c:order val="8"/>
          <c:tx>
            <c:strRef>
              <c:f>Sheet1!$J$114:$J$115</c:f>
              <c:strCache>
                <c:ptCount val="1"/>
                <c:pt idx="0">
                  <c:v>ICC Cricket World Cup 2011</c:v>
                </c:pt>
              </c:strCache>
            </c:strRef>
          </c:tx>
          <c:spPr>
            <a:solidFill>
              <a:schemeClr val="accent3">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Sheet1!$J$116:$J$121</c:f>
              <c:numCache>
                <c:formatCode>General</c:formatCode>
                <c:ptCount val="5"/>
                <c:pt idx="0">
                  <c:v>32</c:v>
                </c:pt>
                <c:pt idx="1">
                  <c:v>63</c:v>
                </c:pt>
                <c:pt idx="2">
                  <c:v>507</c:v>
                </c:pt>
                <c:pt idx="3">
                  <c:v>38</c:v>
                </c:pt>
                <c:pt idx="4">
                  <c:v>825</c:v>
                </c:pt>
              </c:numCache>
            </c:numRef>
          </c:val>
          <c:extLst>
            <c:ext xmlns:c16="http://schemas.microsoft.com/office/drawing/2014/chart" uri="{C3380CC4-5D6E-409C-BE32-E72D297353CC}">
              <c16:uniqueId val="{00000008-AD47-430C-8F48-E45768D78373}"/>
            </c:ext>
          </c:extLst>
        </c:ser>
        <c:ser>
          <c:idx val="9"/>
          <c:order val="9"/>
          <c:tx>
            <c:strRef>
              <c:f>Sheet1!$K$114:$K$115</c:f>
              <c:strCache>
                <c:ptCount val="1"/>
                <c:pt idx="0">
                  <c:v>kykNET</c:v>
                </c:pt>
              </c:strCache>
            </c:strRef>
          </c:tx>
          <c:spPr>
            <a:solidFill>
              <a:schemeClr val="accent4">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Sheet1!$K$116:$K$121</c:f>
              <c:numCache>
                <c:formatCode>General</c:formatCode>
                <c:ptCount val="5"/>
                <c:pt idx="1">
                  <c:v>6</c:v>
                </c:pt>
                <c:pt idx="2">
                  <c:v>17</c:v>
                </c:pt>
                <c:pt idx="3">
                  <c:v>1</c:v>
                </c:pt>
                <c:pt idx="4">
                  <c:v>21</c:v>
                </c:pt>
              </c:numCache>
            </c:numRef>
          </c:val>
          <c:extLst>
            <c:ext xmlns:c16="http://schemas.microsoft.com/office/drawing/2014/chart" uri="{C3380CC4-5D6E-409C-BE32-E72D297353CC}">
              <c16:uniqueId val="{00000009-AD47-430C-8F48-E45768D78373}"/>
            </c:ext>
          </c:extLst>
        </c:ser>
        <c:ser>
          <c:idx val="10"/>
          <c:order val="10"/>
          <c:tx>
            <c:strRef>
              <c:f>Sheet1!$L$114:$L$115</c:f>
              <c:strCache>
                <c:ptCount val="1"/>
                <c:pt idx="0">
                  <c:v>Live on SuperSport</c:v>
                </c:pt>
              </c:strCache>
            </c:strRef>
          </c:tx>
          <c:spPr>
            <a:solidFill>
              <a:schemeClr val="accent5">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Sheet1!$L$116:$L$121</c:f>
              <c:numCache>
                <c:formatCode>General</c:formatCode>
                <c:ptCount val="5"/>
                <c:pt idx="2">
                  <c:v>2</c:v>
                </c:pt>
              </c:numCache>
            </c:numRef>
          </c:val>
          <c:extLst>
            <c:ext xmlns:c16="http://schemas.microsoft.com/office/drawing/2014/chart" uri="{C3380CC4-5D6E-409C-BE32-E72D297353CC}">
              <c16:uniqueId val="{0000000A-AD47-430C-8F48-E45768D78373}"/>
            </c:ext>
          </c:extLst>
        </c:ser>
        <c:ser>
          <c:idx val="11"/>
          <c:order val="11"/>
          <c:tx>
            <c:strRef>
              <c:f>Sheet1!$M$114:$M$115</c:f>
              <c:strCache>
                <c:ptCount val="1"/>
                <c:pt idx="0">
                  <c:v>MK</c:v>
                </c:pt>
              </c:strCache>
            </c:strRef>
          </c:tx>
          <c:spPr>
            <a:solidFill>
              <a:schemeClr val="accent6">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Sheet1!$M$116:$M$121</c:f>
              <c:numCache>
                <c:formatCode>General</c:formatCode>
                <c:ptCount val="5"/>
                <c:pt idx="0">
                  <c:v>1</c:v>
                </c:pt>
                <c:pt idx="1">
                  <c:v>2</c:v>
                </c:pt>
                <c:pt idx="2">
                  <c:v>11</c:v>
                </c:pt>
                <c:pt idx="3">
                  <c:v>1</c:v>
                </c:pt>
                <c:pt idx="4">
                  <c:v>17</c:v>
                </c:pt>
              </c:numCache>
            </c:numRef>
          </c:val>
          <c:extLst>
            <c:ext xmlns:c16="http://schemas.microsoft.com/office/drawing/2014/chart" uri="{C3380CC4-5D6E-409C-BE32-E72D297353CC}">
              <c16:uniqueId val="{0000000B-AD47-430C-8F48-E45768D78373}"/>
            </c:ext>
          </c:extLst>
        </c:ser>
        <c:ser>
          <c:idx val="12"/>
          <c:order val="12"/>
          <c:tx>
            <c:strRef>
              <c:f>Sheet1!$N$114:$N$115</c:f>
              <c:strCache>
                <c:ptCount val="1"/>
                <c:pt idx="0">
                  <c:v>M-Net</c:v>
                </c:pt>
              </c:strCache>
            </c:strRef>
          </c:tx>
          <c:spPr>
            <a:solidFill>
              <a:schemeClr val="accent1">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Sheet1!$N$116:$N$121</c:f>
              <c:numCache>
                <c:formatCode>General</c:formatCode>
                <c:ptCount val="5"/>
                <c:pt idx="0">
                  <c:v>1</c:v>
                </c:pt>
                <c:pt idx="1">
                  <c:v>5</c:v>
                </c:pt>
                <c:pt idx="2">
                  <c:v>42</c:v>
                </c:pt>
                <c:pt idx="3">
                  <c:v>7</c:v>
                </c:pt>
                <c:pt idx="4">
                  <c:v>61</c:v>
                </c:pt>
              </c:numCache>
            </c:numRef>
          </c:val>
          <c:extLst>
            <c:ext xmlns:c16="http://schemas.microsoft.com/office/drawing/2014/chart" uri="{C3380CC4-5D6E-409C-BE32-E72D297353CC}">
              <c16:uniqueId val="{0000000C-AD47-430C-8F48-E45768D78373}"/>
            </c:ext>
          </c:extLst>
        </c:ser>
        <c:ser>
          <c:idx val="13"/>
          <c:order val="13"/>
          <c:tx>
            <c:strRef>
              <c:f>Sheet1!$O$114:$O$115</c:f>
              <c:strCache>
                <c:ptCount val="1"/>
                <c:pt idx="0">
                  <c:v>null</c:v>
                </c:pt>
              </c:strCache>
            </c:strRef>
          </c:tx>
          <c:spPr>
            <a:solidFill>
              <a:schemeClr val="accent2">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Sheet1!$O$116:$O$121</c:f>
              <c:numCache>
                <c:formatCode>General</c:formatCode>
                <c:ptCount val="5"/>
                <c:pt idx="0">
                  <c:v>2</c:v>
                </c:pt>
                <c:pt idx="1">
                  <c:v>748</c:v>
                </c:pt>
                <c:pt idx="2">
                  <c:v>47</c:v>
                </c:pt>
                <c:pt idx="3">
                  <c:v>24</c:v>
                </c:pt>
                <c:pt idx="4">
                  <c:v>168</c:v>
                </c:pt>
              </c:numCache>
            </c:numRef>
          </c:val>
          <c:extLst>
            <c:ext xmlns:c16="http://schemas.microsoft.com/office/drawing/2014/chart" uri="{C3380CC4-5D6E-409C-BE32-E72D297353CC}">
              <c16:uniqueId val="{0000000D-AD47-430C-8F48-E45768D78373}"/>
            </c:ext>
          </c:extLst>
        </c:ser>
        <c:ser>
          <c:idx val="14"/>
          <c:order val="14"/>
          <c:tx>
            <c:strRef>
              <c:f>Sheet1!$P$114:$P$115</c:f>
              <c:strCache>
                <c:ptCount val="1"/>
                <c:pt idx="0">
                  <c:v>SawSee</c:v>
                </c:pt>
              </c:strCache>
            </c:strRef>
          </c:tx>
          <c:spPr>
            <a:solidFill>
              <a:schemeClr val="accent3">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Sheet1!$P$116:$P$121</c:f>
              <c:numCache>
                <c:formatCode>General</c:formatCode>
                <c:ptCount val="5"/>
                <c:pt idx="0">
                  <c:v>2</c:v>
                </c:pt>
                <c:pt idx="1">
                  <c:v>14</c:v>
                </c:pt>
                <c:pt idx="2">
                  <c:v>84</c:v>
                </c:pt>
                <c:pt idx="3">
                  <c:v>8</c:v>
                </c:pt>
                <c:pt idx="4">
                  <c:v>147</c:v>
                </c:pt>
              </c:numCache>
            </c:numRef>
          </c:val>
          <c:extLst>
            <c:ext xmlns:c16="http://schemas.microsoft.com/office/drawing/2014/chart" uri="{C3380CC4-5D6E-409C-BE32-E72D297353CC}">
              <c16:uniqueId val="{0000000E-AD47-430C-8F48-E45768D78373}"/>
            </c:ext>
          </c:extLst>
        </c:ser>
        <c:ser>
          <c:idx val="15"/>
          <c:order val="15"/>
          <c:tx>
            <c:strRef>
              <c:f>Sheet1!$Q$114:$Q$115</c:f>
              <c:strCache>
                <c:ptCount val="1"/>
                <c:pt idx="0">
                  <c:v>SuperSport Blitz</c:v>
                </c:pt>
              </c:strCache>
            </c:strRef>
          </c:tx>
          <c:spPr>
            <a:solidFill>
              <a:schemeClr val="accent4">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Sheet1!$Q$116:$Q$121</c:f>
              <c:numCache>
                <c:formatCode>General</c:formatCode>
                <c:ptCount val="5"/>
                <c:pt idx="0">
                  <c:v>10</c:v>
                </c:pt>
                <c:pt idx="1">
                  <c:v>45</c:v>
                </c:pt>
                <c:pt idx="2">
                  <c:v>380</c:v>
                </c:pt>
                <c:pt idx="3">
                  <c:v>32</c:v>
                </c:pt>
                <c:pt idx="4">
                  <c:v>429</c:v>
                </c:pt>
              </c:numCache>
            </c:numRef>
          </c:val>
          <c:extLst>
            <c:ext xmlns:c16="http://schemas.microsoft.com/office/drawing/2014/chart" uri="{C3380CC4-5D6E-409C-BE32-E72D297353CC}">
              <c16:uniqueId val="{0000000F-AD47-430C-8F48-E45768D78373}"/>
            </c:ext>
          </c:extLst>
        </c:ser>
        <c:ser>
          <c:idx val="16"/>
          <c:order val="16"/>
          <c:tx>
            <c:strRef>
              <c:f>Sheet1!$R$114:$R$115</c:f>
              <c:strCache>
                <c:ptCount val="1"/>
                <c:pt idx="0">
                  <c:v>Supersport Live Events</c:v>
                </c:pt>
              </c:strCache>
            </c:strRef>
          </c:tx>
          <c:spPr>
            <a:solidFill>
              <a:schemeClr val="accent5">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Sheet1!$R$116:$R$121</c:f>
              <c:numCache>
                <c:formatCode>General</c:formatCode>
                <c:ptCount val="5"/>
                <c:pt idx="0">
                  <c:v>14</c:v>
                </c:pt>
                <c:pt idx="1">
                  <c:v>52</c:v>
                </c:pt>
                <c:pt idx="2">
                  <c:v>584</c:v>
                </c:pt>
                <c:pt idx="3">
                  <c:v>52</c:v>
                </c:pt>
                <c:pt idx="4">
                  <c:v>960</c:v>
                </c:pt>
              </c:numCache>
            </c:numRef>
          </c:val>
          <c:extLst>
            <c:ext xmlns:c16="http://schemas.microsoft.com/office/drawing/2014/chart" uri="{C3380CC4-5D6E-409C-BE32-E72D297353CC}">
              <c16:uniqueId val="{00000010-AD47-430C-8F48-E45768D78373}"/>
            </c:ext>
          </c:extLst>
        </c:ser>
        <c:ser>
          <c:idx val="17"/>
          <c:order val="17"/>
          <c:tx>
            <c:strRef>
              <c:f>Sheet1!$S$114:$S$115</c:f>
              <c:strCache>
                <c:ptCount val="1"/>
                <c:pt idx="0">
                  <c:v>Trace TV</c:v>
                </c:pt>
              </c:strCache>
            </c:strRef>
          </c:tx>
          <c:spPr>
            <a:solidFill>
              <a:schemeClr val="accent6">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Sheet1!$S$116:$S$121</c:f>
              <c:numCache>
                <c:formatCode>General</c:formatCode>
                <c:ptCount val="5"/>
                <c:pt idx="0">
                  <c:v>3</c:v>
                </c:pt>
                <c:pt idx="1">
                  <c:v>24</c:v>
                </c:pt>
                <c:pt idx="2">
                  <c:v>193</c:v>
                </c:pt>
                <c:pt idx="3">
                  <c:v>63</c:v>
                </c:pt>
                <c:pt idx="4">
                  <c:v>669</c:v>
                </c:pt>
              </c:numCache>
            </c:numRef>
          </c:val>
          <c:extLst>
            <c:ext xmlns:c16="http://schemas.microsoft.com/office/drawing/2014/chart" uri="{C3380CC4-5D6E-409C-BE32-E72D297353CC}">
              <c16:uniqueId val="{00000011-AD47-430C-8F48-E45768D78373}"/>
            </c:ext>
          </c:extLst>
        </c:ser>
        <c:ser>
          <c:idx val="18"/>
          <c:order val="18"/>
          <c:tx>
            <c:strRef>
              <c:f>Sheet1!$T$114:$T$115</c:f>
              <c:strCache>
                <c:ptCount val="1"/>
                <c:pt idx="0">
                  <c:v>Vuzu</c:v>
                </c:pt>
              </c:strCache>
            </c:strRef>
          </c:tx>
          <c:spPr>
            <a:solidFill>
              <a:schemeClr val="accent1">
                <a:lumMod val="8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Sheet1!$T$116:$T$121</c:f>
              <c:numCache>
                <c:formatCode>General</c:formatCode>
                <c:ptCount val="5"/>
                <c:pt idx="1">
                  <c:v>4</c:v>
                </c:pt>
                <c:pt idx="2">
                  <c:v>29</c:v>
                </c:pt>
                <c:pt idx="3">
                  <c:v>10</c:v>
                </c:pt>
                <c:pt idx="4">
                  <c:v>68</c:v>
                </c:pt>
              </c:numCache>
            </c:numRef>
          </c:val>
          <c:extLst>
            <c:ext xmlns:c16="http://schemas.microsoft.com/office/drawing/2014/chart" uri="{C3380CC4-5D6E-409C-BE32-E72D297353CC}">
              <c16:uniqueId val="{00000012-AD47-430C-8F48-E45768D78373}"/>
            </c:ext>
          </c:extLst>
        </c:ser>
        <c:ser>
          <c:idx val="19"/>
          <c:order val="19"/>
          <c:tx>
            <c:strRef>
              <c:f>Sheet1!$U$114:$U$115</c:f>
              <c:strCache>
                <c:ptCount val="1"/>
                <c:pt idx="0">
                  <c:v>Wimbledon</c:v>
                </c:pt>
              </c:strCache>
            </c:strRef>
          </c:tx>
          <c:spPr>
            <a:solidFill>
              <a:schemeClr val="accent2">
                <a:lumMod val="8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Sheet1!$U$116:$U$121</c:f>
              <c:numCache>
                <c:formatCode>General</c:formatCode>
                <c:ptCount val="5"/>
                <c:pt idx="2">
                  <c:v>3</c:v>
                </c:pt>
              </c:numCache>
            </c:numRef>
          </c:val>
          <c:extLst>
            <c:ext xmlns:c16="http://schemas.microsoft.com/office/drawing/2014/chart" uri="{C3380CC4-5D6E-409C-BE32-E72D297353CC}">
              <c16:uniqueId val="{00000013-AD47-430C-8F48-E45768D78373}"/>
            </c:ext>
          </c:extLst>
        </c:ser>
        <c:dLbls>
          <c:showLegendKey val="0"/>
          <c:showVal val="0"/>
          <c:showCatName val="0"/>
          <c:showSerName val="0"/>
          <c:showPercent val="0"/>
          <c:showBubbleSize val="0"/>
        </c:dLbls>
        <c:gapWidth val="219"/>
        <c:overlap val="-27"/>
        <c:axId val="541847360"/>
        <c:axId val="541836320"/>
      </c:barChart>
      <c:catAx>
        <c:axId val="541847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36320"/>
        <c:crosses val="autoZero"/>
        <c:auto val="1"/>
        <c:lblAlgn val="ctr"/>
        <c:lblOffset val="100"/>
        <c:noMultiLvlLbl val="0"/>
      </c:catAx>
      <c:valAx>
        <c:axId val="541836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473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[Latest.xlsx]Sheet1!PivotTable7</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Channel performances for different users and the sum of duration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Sheet1!$B$152</c:f>
              <c:strCache>
                <c:ptCount val="1"/>
                <c:pt idx="0">
                  <c:v>Sum of duration_minutes</c:v>
                </c:pt>
              </c:strCache>
            </c:strRef>
          </c:tx>
          <c:spPr>
            <a:solidFill>
              <a:schemeClr val="accent1"/>
            </a:solidFill>
            <a:ln>
              <a:noFill/>
            </a:ln>
            <a:effectLst/>
          </c:spPr>
          <c:invertIfNegative val="0"/>
          <c:cat>
            <c:strRef>
              <c:f>Sheet1!$A$153:$A$173</c:f>
              <c:strCache>
                <c:ptCount val="20"/>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null</c:v>
                </c:pt>
                <c:pt idx="14">
                  <c:v>SawSee</c:v>
                </c:pt>
                <c:pt idx="15">
                  <c:v>SuperSport Blitz</c:v>
                </c:pt>
                <c:pt idx="16">
                  <c:v>Supersport Live Events</c:v>
                </c:pt>
                <c:pt idx="17">
                  <c:v>Trace TV</c:v>
                </c:pt>
                <c:pt idx="18">
                  <c:v>Vuzu</c:v>
                </c:pt>
                <c:pt idx="19">
                  <c:v>Wimbledon</c:v>
                </c:pt>
              </c:strCache>
            </c:strRef>
          </c:cat>
          <c:val>
            <c:numRef>
              <c:f>Sheet1!$B$153:$B$173</c:f>
              <c:numCache>
                <c:formatCode>General</c:formatCode>
                <c:ptCount val="20"/>
                <c:pt idx="0">
                  <c:v>106002.86666666657</c:v>
                </c:pt>
                <c:pt idx="1">
                  <c:v>90075.550000000047</c:v>
                </c:pt>
                <c:pt idx="2">
                  <c:v>7973.5000000000018</c:v>
                </c:pt>
                <c:pt idx="3">
                  <c:v>99375.283333333369</c:v>
                </c:pt>
                <c:pt idx="4">
                  <c:v>137565.34999999998</c:v>
                </c:pt>
                <c:pt idx="5">
                  <c:v>64666.649999999994</c:v>
                </c:pt>
                <c:pt idx="6">
                  <c:v>13130.083333333336</c:v>
                </c:pt>
                <c:pt idx="7">
                  <c:v>46259.066666666651</c:v>
                </c:pt>
                <c:pt idx="8">
                  <c:v>200527.53333333309</c:v>
                </c:pt>
                <c:pt idx="9">
                  <c:v>5562.4</c:v>
                </c:pt>
                <c:pt idx="10">
                  <c:v>244.7</c:v>
                </c:pt>
                <c:pt idx="11">
                  <c:v>3880.8833333333337</c:v>
                </c:pt>
                <c:pt idx="12">
                  <c:v>14154.033333333329</c:v>
                </c:pt>
                <c:pt idx="13">
                  <c:v>0</c:v>
                </c:pt>
                <c:pt idx="14">
                  <c:v>31225.13333333332</c:v>
                </c:pt>
                <c:pt idx="15">
                  <c:v>112960.76666666675</c:v>
                </c:pt>
                <c:pt idx="16">
                  <c:v>218254.63333333345</c:v>
                </c:pt>
                <c:pt idx="17">
                  <c:v>125755.45000000006</c:v>
                </c:pt>
                <c:pt idx="18">
                  <c:v>13405.650000000003</c:v>
                </c:pt>
                <c:pt idx="19">
                  <c:v>360.51666666666665</c:v>
                </c:pt>
              </c:numCache>
            </c:numRef>
          </c:val>
          <c:extLst>
            <c:ext xmlns:c16="http://schemas.microsoft.com/office/drawing/2014/chart" uri="{C3380CC4-5D6E-409C-BE32-E72D297353CC}">
              <c16:uniqueId val="{00000000-6A69-49D2-B09A-777F1F396169}"/>
            </c:ext>
          </c:extLst>
        </c:ser>
        <c:ser>
          <c:idx val="1"/>
          <c:order val="1"/>
          <c:tx>
            <c:strRef>
              <c:f>Sheet1!$C$152</c:f>
              <c:strCache>
                <c:ptCount val="1"/>
                <c:pt idx="0">
                  <c:v>Count of UserID</c:v>
                </c:pt>
              </c:strCache>
            </c:strRef>
          </c:tx>
          <c:spPr>
            <a:solidFill>
              <a:schemeClr val="accent2"/>
            </a:solidFill>
            <a:ln>
              <a:noFill/>
            </a:ln>
            <a:effectLst/>
          </c:spPr>
          <c:invertIfNegative val="0"/>
          <c:cat>
            <c:strRef>
              <c:f>Sheet1!$A$153:$A$173</c:f>
              <c:strCache>
                <c:ptCount val="20"/>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null</c:v>
                </c:pt>
                <c:pt idx="14">
                  <c:v>SawSee</c:v>
                </c:pt>
                <c:pt idx="15">
                  <c:v>SuperSport Blitz</c:v>
                </c:pt>
                <c:pt idx="16">
                  <c:v>Supersport Live Events</c:v>
                </c:pt>
                <c:pt idx="17">
                  <c:v>Trace TV</c:v>
                </c:pt>
                <c:pt idx="18">
                  <c:v>Vuzu</c:v>
                </c:pt>
                <c:pt idx="19">
                  <c:v>Wimbledon</c:v>
                </c:pt>
              </c:strCache>
            </c:strRef>
          </c:cat>
          <c:val>
            <c:numRef>
              <c:f>Sheet1!$C$153:$C$173</c:f>
              <c:numCache>
                <c:formatCode>General</c:formatCode>
                <c:ptCount val="20"/>
                <c:pt idx="0">
                  <c:v>859</c:v>
                </c:pt>
                <c:pt idx="1">
                  <c:v>714</c:v>
                </c:pt>
                <c:pt idx="2">
                  <c:v>66</c:v>
                </c:pt>
                <c:pt idx="3">
                  <c:v>793</c:v>
                </c:pt>
                <c:pt idx="4">
                  <c:v>1050</c:v>
                </c:pt>
                <c:pt idx="5">
                  <c:v>505</c:v>
                </c:pt>
                <c:pt idx="6">
                  <c:v>107</c:v>
                </c:pt>
                <c:pt idx="7">
                  <c:v>367</c:v>
                </c:pt>
                <c:pt idx="8">
                  <c:v>1465</c:v>
                </c:pt>
                <c:pt idx="9">
                  <c:v>45</c:v>
                </c:pt>
                <c:pt idx="10">
                  <c:v>2</c:v>
                </c:pt>
                <c:pt idx="11">
                  <c:v>32</c:v>
                </c:pt>
                <c:pt idx="12">
                  <c:v>116</c:v>
                </c:pt>
                <c:pt idx="13">
                  <c:v>989</c:v>
                </c:pt>
                <c:pt idx="14">
                  <c:v>255</c:v>
                </c:pt>
                <c:pt idx="15">
                  <c:v>896</c:v>
                </c:pt>
                <c:pt idx="16">
                  <c:v>1662</c:v>
                </c:pt>
                <c:pt idx="17">
                  <c:v>952</c:v>
                </c:pt>
                <c:pt idx="18">
                  <c:v>111</c:v>
                </c:pt>
                <c:pt idx="19">
                  <c:v>3</c:v>
                </c:pt>
              </c:numCache>
            </c:numRef>
          </c:val>
          <c:extLst>
            <c:ext xmlns:c16="http://schemas.microsoft.com/office/drawing/2014/chart" uri="{C3380CC4-5D6E-409C-BE32-E72D297353CC}">
              <c16:uniqueId val="{00000001-6A69-49D2-B09A-777F1F396169}"/>
            </c:ext>
          </c:extLst>
        </c:ser>
        <c:dLbls>
          <c:showLegendKey val="0"/>
          <c:showVal val="0"/>
          <c:showCatName val="0"/>
          <c:showSerName val="0"/>
          <c:showPercent val="0"/>
          <c:showBubbleSize val="0"/>
        </c:dLbls>
        <c:gapWidth val="219"/>
        <c:overlap val="-27"/>
        <c:axId val="541842080"/>
        <c:axId val="541829120"/>
      </c:barChart>
      <c:catAx>
        <c:axId val="541842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29120"/>
        <c:crosses val="autoZero"/>
        <c:auto val="1"/>
        <c:lblAlgn val="ctr"/>
        <c:lblOffset val="100"/>
        <c:noMultiLvlLbl val="0"/>
      </c:catAx>
      <c:valAx>
        <c:axId val="541829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420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[Latest.xlsx]Sheet1!PivotTable8</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minutes taken per channel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Sheet1!$B$182</c:f>
              <c:strCache>
                <c:ptCount val="1"/>
                <c:pt idx="0">
                  <c:v>Total</c:v>
                </c:pt>
              </c:strCache>
            </c:strRef>
          </c:tx>
          <c:spPr>
            <a:solidFill>
              <a:schemeClr val="accent1"/>
            </a:solidFill>
            <a:ln>
              <a:noFill/>
            </a:ln>
            <a:effectLst/>
          </c:spPr>
          <c:invertIfNegative val="0"/>
          <c:cat>
            <c:strRef>
              <c:f>Sheet1!$A$183:$A$202</c:f>
              <c:strCache>
                <c:ptCount val="19"/>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strCache>
            </c:strRef>
          </c:cat>
          <c:val>
            <c:numRef>
              <c:f>Sheet1!$B$183:$B$202</c:f>
              <c:numCache>
                <c:formatCode>General</c:formatCode>
                <c:ptCount val="19"/>
                <c:pt idx="0">
                  <c:v>123.40263872720206</c:v>
                </c:pt>
                <c:pt idx="1">
                  <c:v>126.15623249299726</c:v>
                </c:pt>
                <c:pt idx="2">
                  <c:v>120.81060606060609</c:v>
                </c:pt>
                <c:pt idx="3">
                  <c:v>125.31561580496012</c:v>
                </c:pt>
                <c:pt idx="4">
                  <c:v>131.01461904761902</c:v>
                </c:pt>
                <c:pt idx="5">
                  <c:v>128.05277227722772</c:v>
                </c:pt>
                <c:pt idx="6">
                  <c:v>122.71105919003118</c:v>
                </c:pt>
                <c:pt idx="7">
                  <c:v>126.04650317892821</c:v>
                </c:pt>
                <c:pt idx="8">
                  <c:v>136.87886234357208</c:v>
                </c:pt>
                <c:pt idx="9">
                  <c:v>123.60888888888888</c:v>
                </c:pt>
                <c:pt idx="10">
                  <c:v>122.35</c:v>
                </c:pt>
                <c:pt idx="11">
                  <c:v>121.27760416666668</c:v>
                </c:pt>
                <c:pt idx="12">
                  <c:v>122.01752873563215</c:v>
                </c:pt>
                <c:pt idx="13">
                  <c:v>122.45150326797381</c:v>
                </c:pt>
                <c:pt idx="14">
                  <c:v>126.07228422619058</c:v>
                </c:pt>
                <c:pt idx="15">
                  <c:v>131.32047733654238</c:v>
                </c:pt>
                <c:pt idx="16">
                  <c:v>132.09606092436979</c:v>
                </c:pt>
                <c:pt idx="17">
                  <c:v>120.77162162162165</c:v>
                </c:pt>
                <c:pt idx="18">
                  <c:v>120.17222222222222</c:v>
                </c:pt>
              </c:numCache>
            </c:numRef>
          </c:val>
          <c:extLst>
            <c:ext xmlns:c16="http://schemas.microsoft.com/office/drawing/2014/chart" uri="{C3380CC4-5D6E-409C-BE32-E72D297353CC}">
              <c16:uniqueId val="{00000000-9F4D-41ED-8E6D-2E6AFA98648C}"/>
            </c:ext>
          </c:extLst>
        </c:ser>
        <c:dLbls>
          <c:showLegendKey val="0"/>
          <c:showVal val="0"/>
          <c:showCatName val="0"/>
          <c:showSerName val="0"/>
          <c:showPercent val="0"/>
          <c:showBubbleSize val="0"/>
        </c:dLbls>
        <c:gapWidth val="219"/>
        <c:overlap val="-27"/>
        <c:axId val="661119104"/>
        <c:axId val="661079264"/>
      </c:barChart>
      <c:catAx>
        <c:axId val="661119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79264"/>
        <c:crosses val="autoZero"/>
        <c:auto val="1"/>
        <c:lblAlgn val="ctr"/>
        <c:lblOffset val="100"/>
        <c:noMultiLvlLbl val="0"/>
      </c:catAx>
      <c:valAx>
        <c:axId val="661079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1191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[Latest.xlsx]Sheet1!PivotTable10</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minutes spent in each channel over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Sheet1!$B$228:$B$229</c:f>
              <c:strCache>
                <c:ptCount val="1"/>
                <c:pt idx="0">
                  <c:v>Africa Magic</c:v>
                </c:pt>
              </c:strCache>
            </c:strRef>
          </c:tx>
          <c:spPr>
            <a:ln w="28575" cap="rnd">
              <a:solidFill>
                <a:schemeClr val="accent1"/>
              </a:solidFill>
              <a:round/>
            </a:ln>
            <a:effectLst/>
          </c:spPr>
          <c:marker>
            <c:symbol val="none"/>
          </c:marker>
          <c:cat>
            <c:strRef>
              <c:f>Sheet1!$A$230:$A$234</c:f>
              <c:strCache>
                <c:ptCount val="4"/>
                <c:pt idx="0">
                  <c:v>Jan</c:v>
                </c:pt>
                <c:pt idx="1">
                  <c:v>Feb</c:v>
                </c:pt>
                <c:pt idx="2">
                  <c:v>Mar</c:v>
                </c:pt>
                <c:pt idx="3">
                  <c:v>Apr</c:v>
                </c:pt>
              </c:strCache>
            </c:strRef>
          </c:cat>
          <c:val>
            <c:numRef>
              <c:f>Sheet1!$B$230:$B$234</c:f>
              <c:numCache>
                <c:formatCode>General</c:formatCode>
                <c:ptCount val="4"/>
                <c:pt idx="0">
                  <c:v>32665.166666666675</c:v>
                </c:pt>
                <c:pt idx="1">
                  <c:v>34494.100000000013</c:v>
                </c:pt>
                <c:pt idx="2">
                  <c:v>38843.600000000006</c:v>
                </c:pt>
              </c:numCache>
            </c:numRef>
          </c:val>
          <c:smooth val="0"/>
          <c:extLst>
            <c:ext xmlns:c16="http://schemas.microsoft.com/office/drawing/2014/chart" uri="{C3380CC4-5D6E-409C-BE32-E72D297353CC}">
              <c16:uniqueId val="{00000000-6AB1-4497-827A-4279DD67BD2A}"/>
            </c:ext>
          </c:extLst>
        </c:ser>
        <c:ser>
          <c:idx val="1"/>
          <c:order val="1"/>
          <c:tx>
            <c:strRef>
              <c:f>Sheet1!$C$228:$C$229</c:f>
              <c:strCache>
                <c:ptCount val="1"/>
                <c:pt idx="0">
                  <c:v>Boomerang</c:v>
                </c:pt>
              </c:strCache>
            </c:strRef>
          </c:tx>
          <c:spPr>
            <a:ln w="28575" cap="rnd">
              <a:solidFill>
                <a:schemeClr val="accent2"/>
              </a:solidFill>
              <a:round/>
            </a:ln>
            <a:effectLst/>
          </c:spPr>
          <c:marker>
            <c:symbol val="none"/>
          </c:marker>
          <c:cat>
            <c:strRef>
              <c:f>Sheet1!$A$230:$A$234</c:f>
              <c:strCache>
                <c:ptCount val="4"/>
                <c:pt idx="0">
                  <c:v>Jan</c:v>
                </c:pt>
                <c:pt idx="1">
                  <c:v>Feb</c:v>
                </c:pt>
                <c:pt idx="2">
                  <c:v>Mar</c:v>
                </c:pt>
                <c:pt idx="3">
                  <c:v>Apr</c:v>
                </c:pt>
              </c:strCache>
            </c:strRef>
          </c:cat>
          <c:val>
            <c:numRef>
              <c:f>Sheet1!$C$230:$C$234</c:f>
              <c:numCache>
                <c:formatCode>General</c:formatCode>
                <c:ptCount val="4"/>
                <c:pt idx="0">
                  <c:v>22784.916666666672</c:v>
                </c:pt>
                <c:pt idx="1">
                  <c:v>25932.116666666669</c:v>
                </c:pt>
                <c:pt idx="2">
                  <c:v>41238.51666666667</c:v>
                </c:pt>
                <c:pt idx="3">
                  <c:v>120</c:v>
                </c:pt>
              </c:numCache>
            </c:numRef>
          </c:val>
          <c:smooth val="0"/>
          <c:extLst>
            <c:ext xmlns:c16="http://schemas.microsoft.com/office/drawing/2014/chart" uri="{C3380CC4-5D6E-409C-BE32-E72D297353CC}">
              <c16:uniqueId val="{00000001-6AB1-4497-827A-4279DD67BD2A}"/>
            </c:ext>
          </c:extLst>
        </c:ser>
        <c:ser>
          <c:idx val="2"/>
          <c:order val="2"/>
          <c:tx>
            <c:strRef>
              <c:f>Sheet1!$D$228:$D$229</c:f>
              <c:strCache>
                <c:ptCount val="1"/>
                <c:pt idx="0">
                  <c:v>Break in transmission</c:v>
                </c:pt>
              </c:strCache>
            </c:strRef>
          </c:tx>
          <c:spPr>
            <a:ln w="28575" cap="rnd">
              <a:solidFill>
                <a:schemeClr val="accent3"/>
              </a:solidFill>
              <a:round/>
            </a:ln>
            <a:effectLst/>
          </c:spPr>
          <c:marker>
            <c:symbol val="none"/>
          </c:marker>
          <c:cat>
            <c:strRef>
              <c:f>Sheet1!$A$230:$A$234</c:f>
              <c:strCache>
                <c:ptCount val="4"/>
                <c:pt idx="0">
                  <c:v>Jan</c:v>
                </c:pt>
                <c:pt idx="1">
                  <c:v>Feb</c:v>
                </c:pt>
                <c:pt idx="2">
                  <c:v>Mar</c:v>
                </c:pt>
                <c:pt idx="3">
                  <c:v>Apr</c:v>
                </c:pt>
              </c:strCache>
            </c:strRef>
          </c:cat>
          <c:val>
            <c:numRef>
              <c:f>Sheet1!$D$230:$D$234</c:f>
              <c:numCache>
                <c:formatCode>General</c:formatCode>
                <c:ptCount val="4"/>
                <c:pt idx="1">
                  <c:v>4695.1000000000004</c:v>
                </c:pt>
                <c:pt idx="2">
                  <c:v>3278.4</c:v>
                </c:pt>
              </c:numCache>
            </c:numRef>
          </c:val>
          <c:smooth val="0"/>
          <c:extLst>
            <c:ext xmlns:c16="http://schemas.microsoft.com/office/drawing/2014/chart" uri="{C3380CC4-5D6E-409C-BE32-E72D297353CC}">
              <c16:uniqueId val="{00000002-6AB1-4497-827A-4279DD67BD2A}"/>
            </c:ext>
          </c:extLst>
        </c:ser>
        <c:ser>
          <c:idx val="3"/>
          <c:order val="3"/>
          <c:tx>
            <c:strRef>
              <c:f>Sheet1!$E$228:$E$229</c:f>
              <c:strCache>
                <c:ptCount val="1"/>
                <c:pt idx="0">
                  <c:v>Cartoon Network</c:v>
                </c:pt>
              </c:strCache>
            </c:strRef>
          </c:tx>
          <c:spPr>
            <a:ln w="28575" cap="rnd">
              <a:solidFill>
                <a:schemeClr val="accent4"/>
              </a:solidFill>
              <a:round/>
            </a:ln>
            <a:effectLst/>
          </c:spPr>
          <c:marker>
            <c:symbol val="none"/>
          </c:marker>
          <c:cat>
            <c:strRef>
              <c:f>Sheet1!$A$230:$A$234</c:f>
              <c:strCache>
                <c:ptCount val="4"/>
                <c:pt idx="0">
                  <c:v>Jan</c:v>
                </c:pt>
                <c:pt idx="1">
                  <c:v>Feb</c:v>
                </c:pt>
                <c:pt idx="2">
                  <c:v>Mar</c:v>
                </c:pt>
                <c:pt idx="3">
                  <c:v>Apr</c:v>
                </c:pt>
              </c:strCache>
            </c:strRef>
          </c:cat>
          <c:val>
            <c:numRef>
              <c:f>Sheet1!$E$230:$E$234</c:f>
              <c:numCache>
                <c:formatCode>General</c:formatCode>
                <c:ptCount val="4"/>
                <c:pt idx="0">
                  <c:v>28096.816666666669</c:v>
                </c:pt>
                <c:pt idx="1">
                  <c:v>26926.816666666648</c:v>
                </c:pt>
                <c:pt idx="2">
                  <c:v>44230.96666666666</c:v>
                </c:pt>
                <c:pt idx="3">
                  <c:v>120.68333333333334</c:v>
                </c:pt>
              </c:numCache>
            </c:numRef>
          </c:val>
          <c:smooth val="0"/>
          <c:extLst>
            <c:ext xmlns:c16="http://schemas.microsoft.com/office/drawing/2014/chart" uri="{C3380CC4-5D6E-409C-BE32-E72D297353CC}">
              <c16:uniqueId val="{00000003-6AB1-4497-827A-4279DD67BD2A}"/>
            </c:ext>
          </c:extLst>
        </c:ser>
        <c:ser>
          <c:idx val="4"/>
          <c:order val="4"/>
          <c:tx>
            <c:strRef>
              <c:f>Sheet1!$F$228:$F$229</c:f>
              <c:strCache>
                <c:ptCount val="1"/>
                <c:pt idx="0">
                  <c:v>Channel O</c:v>
                </c:pt>
              </c:strCache>
            </c:strRef>
          </c:tx>
          <c:spPr>
            <a:ln w="28575" cap="rnd">
              <a:solidFill>
                <a:schemeClr val="accent5"/>
              </a:solidFill>
              <a:round/>
            </a:ln>
            <a:effectLst/>
          </c:spPr>
          <c:marker>
            <c:symbol val="none"/>
          </c:marker>
          <c:cat>
            <c:strRef>
              <c:f>Sheet1!$A$230:$A$234</c:f>
              <c:strCache>
                <c:ptCount val="4"/>
                <c:pt idx="0">
                  <c:v>Jan</c:v>
                </c:pt>
                <c:pt idx="1">
                  <c:v>Feb</c:v>
                </c:pt>
                <c:pt idx="2">
                  <c:v>Mar</c:v>
                </c:pt>
                <c:pt idx="3">
                  <c:v>Apr</c:v>
                </c:pt>
              </c:strCache>
            </c:strRef>
          </c:cat>
          <c:val>
            <c:numRef>
              <c:f>Sheet1!$F$230:$F$234</c:f>
              <c:numCache>
                <c:formatCode>General</c:formatCode>
                <c:ptCount val="4"/>
                <c:pt idx="0">
                  <c:v>35060.30000000001</c:v>
                </c:pt>
                <c:pt idx="1">
                  <c:v>48233.749999999978</c:v>
                </c:pt>
                <c:pt idx="2">
                  <c:v>54151.10000000002</c:v>
                </c:pt>
                <c:pt idx="3">
                  <c:v>120.2</c:v>
                </c:pt>
              </c:numCache>
            </c:numRef>
          </c:val>
          <c:smooth val="0"/>
          <c:extLst>
            <c:ext xmlns:c16="http://schemas.microsoft.com/office/drawing/2014/chart" uri="{C3380CC4-5D6E-409C-BE32-E72D297353CC}">
              <c16:uniqueId val="{00000004-6AB1-4497-827A-4279DD67BD2A}"/>
            </c:ext>
          </c:extLst>
        </c:ser>
        <c:ser>
          <c:idx val="5"/>
          <c:order val="5"/>
          <c:tx>
            <c:strRef>
              <c:f>Sheet1!$G$228:$G$229</c:f>
              <c:strCache>
                <c:ptCount val="1"/>
                <c:pt idx="0">
                  <c:v>CNN</c:v>
                </c:pt>
              </c:strCache>
            </c:strRef>
          </c:tx>
          <c:spPr>
            <a:ln w="28575" cap="rnd">
              <a:solidFill>
                <a:schemeClr val="accent6"/>
              </a:solidFill>
              <a:round/>
            </a:ln>
            <a:effectLst/>
          </c:spPr>
          <c:marker>
            <c:symbol val="none"/>
          </c:marker>
          <c:cat>
            <c:strRef>
              <c:f>Sheet1!$A$230:$A$234</c:f>
              <c:strCache>
                <c:ptCount val="4"/>
                <c:pt idx="0">
                  <c:v>Jan</c:v>
                </c:pt>
                <c:pt idx="1">
                  <c:v>Feb</c:v>
                </c:pt>
                <c:pt idx="2">
                  <c:v>Mar</c:v>
                </c:pt>
                <c:pt idx="3">
                  <c:v>Apr</c:v>
                </c:pt>
              </c:strCache>
            </c:strRef>
          </c:cat>
          <c:val>
            <c:numRef>
              <c:f>Sheet1!$G$230:$G$234</c:f>
              <c:numCache>
                <c:formatCode>General</c:formatCode>
                <c:ptCount val="4"/>
                <c:pt idx="0">
                  <c:v>13811.083333333336</c:v>
                </c:pt>
                <c:pt idx="1">
                  <c:v>20016.283333333336</c:v>
                </c:pt>
                <c:pt idx="2">
                  <c:v>30712.55000000001</c:v>
                </c:pt>
                <c:pt idx="3">
                  <c:v>126.73333333333333</c:v>
                </c:pt>
              </c:numCache>
            </c:numRef>
          </c:val>
          <c:smooth val="0"/>
          <c:extLst>
            <c:ext xmlns:c16="http://schemas.microsoft.com/office/drawing/2014/chart" uri="{C3380CC4-5D6E-409C-BE32-E72D297353CC}">
              <c16:uniqueId val="{00000005-6AB1-4497-827A-4279DD67BD2A}"/>
            </c:ext>
          </c:extLst>
        </c:ser>
        <c:ser>
          <c:idx val="6"/>
          <c:order val="6"/>
          <c:tx>
            <c:strRef>
              <c:f>Sheet1!$H$228:$H$229</c:f>
              <c:strCache>
                <c:ptCount val="1"/>
                <c:pt idx="0">
                  <c:v>DStv Events 1</c:v>
                </c:pt>
              </c:strCache>
            </c:strRef>
          </c:tx>
          <c:spPr>
            <a:ln w="28575" cap="rnd">
              <a:solidFill>
                <a:schemeClr val="accent1">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Sheet1!$H$230:$H$234</c:f>
              <c:numCache>
                <c:formatCode>General</c:formatCode>
                <c:ptCount val="4"/>
                <c:pt idx="0">
                  <c:v>6628.3333333333321</c:v>
                </c:pt>
                <c:pt idx="1">
                  <c:v>2319.8333333333339</c:v>
                </c:pt>
                <c:pt idx="2">
                  <c:v>4181.916666666667</c:v>
                </c:pt>
              </c:numCache>
            </c:numRef>
          </c:val>
          <c:smooth val="0"/>
          <c:extLst>
            <c:ext xmlns:c16="http://schemas.microsoft.com/office/drawing/2014/chart" uri="{C3380CC4-5D6E-409C-BE32-E72D297353CC}">
              <c16:uniqueId val="{00000006-6AB1-4497-827A-4279DD67BD2A}"/>
            </c:ext>
          </c:extLst>
        </c:ser>
        <c:ser>
          <c:idx val="7"/>
          <c:order val="7"/>
          <c:tx>
            <c:strRef>
              <c:f>Sheet1!$I$228:$I$229</c:f>
              <c:strCache>
                <c:ptCount val="1"/>
                <c:pt idx="0">
                  <c:v>E! Entertainment</c:v>
                </c:pt>
              </c:strCache>
            </c:strRef>
          </c:tx>
          <c:spPr>
            <a:ln w="28575" cap="rnd">
              <a:solidFill>
                <a:schemeClr val="accent2">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Sheet1!$I$230:$I$234</c:f>
              <c:numCache>
                <c:formatCode>General</c:formatCode>
                <c:ptCount val="4"/>
                <c:pt idx="0">
                  <c:v>12407.666666666672</c:v>
                </c:pt>
                <c:pt idx="1">
                  <c:v>14401.766666666666</c:v>
                </c:pt>
                <c:pt idx="2">
                  <c:v>19449.633333333328</c:v>
                </c:pt>
              </c:numCache>
            </c:numRef>
          </c:val>
          <c:smooth val="0"/>
          <c:extLst>
            <c:ext xmlns:c16="http://schemas.microsoft.com/office/drawing/2014/chart" uri="{C3380CC4-5D6E-409C-BE32-E72D297353CC}">
              <c16:uniqueId val="{00000007-6AB1-4497-827A-4279DD67BD2A}"/>
            </c:ext>
          </c:extLst>
        </c:ser>
        <c:ser>
          <c:idx val="8"/>
          <c:order val="8"/>
          <c:tx>
            <c:strRef>
              <c:f>Sheet1!$J$228:$J$229</c:f>
              <c:strCache>
                <c:ptCount val="1"/>
                <c:pt idx="0">
                  <c:v>ICC Cricket World Cup 2011</c:v>
                </c:pt>
              </c:strCache>
            </c:strRef>
          </c:tx>
          <c:spPr>
            <a:ln w="28575" cap="rnd">
              <a:solidFill>
                <a:schemeClr val="accent3">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Sheet1!$J$230:$J$234</c:f>
              <c:numCache>
                <c:formatCode>General</c:formatCode>
                <c:ptCount val="4"/>
                <c:pt idx="1">
                  <c:v>41763.533333333355</c:v>
                </c:pt>
                <c:pt idx="2">
                  <c:v>158764.00000000003</c:v>
                </c:pt>
              </c:numCache>
            </c:numRef>
          </c:val>
          <c:smooth val="0"/>
          <c:extLst>
            <c:ext xmlns:c16="http://schemas.microsoft.com/office/drawing/2014/chart" uri="{C3380CC4-5D6E-409C-BE32-E72D297353CC}">
              <c16:uniqueId val="{00000008-6AB1-4497-827A-4279DD67BD2A}"/>
            </c:ext>
          </c:extLst>
        </c:ser>
        <c:ser>
          <c:idx val="9"/>
          <c:order val="9"/>
          <c:tx>
            <c:strRef>
              <c:f>Sheet1!$K$228:$K$229</c:f>
              <c:strCache>
                <c:ptCount val="1"/>
                <c:pt idx="0">
                  <c:v>kykNET</c:v>
                </c:pt>
              </c:strCache>
            </c:strRef>
          </c:tx>
          <c:spPr>
            <a:ln w="28575" cap="rnd">
              <a:solidFill>
                <a:schemeClr val="accent4">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Sheet1!$K$230:$K$234</c:f>
              <c:numCache>
                <c:formatCode>General</c:formatCode>
                <c:ptCount val="4"/>
                <c:pt idx="0">
                  <c:v>1980.6000000000001</c:v>
                </c:pt>
                <c:pt idx="1">
                  <c:v>1221.5</c:v>
                </c:pt>
                <c:pt idx="2">
                  <c:v>2360.2999999999997</c:v>
                </c:pt>
              </c:numCache>
            </c:numRef>
          </c:val>
          <c:smooth val="0"/>
          <c:extLst>
            <c:ext xmlns:c16="http://schemas.microsoft.com/office/drawing/2014/chart" uri="{C3380CC4-5D6E-409C-BE32-E72D297353CC}">
              <c16:uniqueId val="{00000009-6AB1-4497-827A-4279DD67BD2A}"/>
            </c:ext>
          </c:extLst>
        </c:ser>
        <c:ser>
          <c:idx val="10"/>
          <c:order val="10"/>
          <c:tx>
            <c:strRef>
              <c:f>Sheet1!$L$228:$L$229</c:f>
              <c:strCache>
                <c:ptCount val="1"/>
                <c:pt idx="0">
                  <c:v>Live on SuperSport</c:v>
                </c:pt>
              </c:strCache>
            </c:strRef>
          </c:tx>
          <c:spPr>
            <a:ln w="28575" cap="rnd">
              <a:solidFill>
                <a:schemeClr val="accent5">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Sheet1!$L$230:$L$234</c:f>
              <c:numCache>
                <c:formatCode>General</c:formatCode>
                <c:ptCount val="4"/>
                <c:pt idx="1">
                  <c:v>244.7</c:v>
                </c:pt>
              </c:numCache>
            </c:numRef>
          </c:val>
          <c:smooth val="0"/>
          <c:extLst>
            <c:ext xmlns:c16="http://schemas.microsoft.com/office/drawing/2014/chart" uri="{C3380CC4-5D6E-409C-BE32-E72D297353CC}">
              <c16:uniqueId val="{0000000A-6AB1-4497-827A-4279DD67BD2A}"/>
            </c:ext>
          </c:extLst>
        </c:ser>
        <c:ser>
          <c:idx val="11"/>
          <c:order val="11"/>
          <c:tx>
            <c:strRef>
              <c:f>Sheet1!$M$228:$M$229</c:f>
              <c:strCache>
                <c:ptCount val="1"/>
                <c:pt idx="0">
                  <c:v>MK</c:v>
                </c:pt>
              </c:strCache>
            </c:strRef>
          </c:tx>
          <c:spPr>
            <a:ln w="28575" cap="rnd">
              <a:solidFill>
                <a:schemeClr val="accent6">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Sheet1!$M$230:$M$234</c:f>
              <c:numCache>
                <c:formatCode>General</c:formatCode>
                <c:ptCount val="4"/>
                <c:pt idx="0">
                  <c:v>1459.9833333333336</c:v>
                </c:pt>
                <c:pt idx="1">
                  <c:v>846.81666666666672</c:v>
                </c:pt>
                <c:pt idx="2">
                  <c:v>1574.0833333333335</c:v>
                </c:pt>
              </c:numCache>
            </c:numRef>
          </c:val>
          <c:smooth val="0"/>
          <c:extLst>
            <c:ext xmlns:c16="http://schemas.microsoft.com/office/drawing/2014/chart" uri="{C3380CC4-5D6E-409C-BE32-E72D297353CC}">
              <c16:uniqueId val="{0000000B-6AB1-4497-827A-4279DD67BD2A}"/>
            </c:ext>
          </c:extLst>
        </c:ser>
        <c:ser>
          <c:idx val="12"/>
          <c:order val="12"/>
          <c:tx>
            <c:strRef>
              <c:f>Sheet1!$N$228:$N$229</c:f>
              <c:strCache>
                <c:ptCount val="1"/>
                <c:pt idx="0">
                  <c:v>M-Net</c:v>
                </c:pt>
              </c:strCache>
            </c:strRef>
          </c:tx>
          <c:spPr>
            <a:ln w="28575" cap="rnd">
              <a:solidFill>
                <a:schemeClr val="accent1">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Sheet1!$N$230:$N$234</c:f>
              <c:numCache>
                <c:formatCode>General</c:formatCode>
                <c:ptCount val="4"/>
                <c:pt idx="0">
                  <c:v>4760.583333333333</c:v>
                </c:pt>
                <c:pt idx="1">
                  <c:v>4755.2833333333328</c:v>
                </c:pt>
                <c:pt idx="2">
                  <c:v>4638.1666666666642</c:v>
                </c:pt>
              </c:numCache>
            </c:numRef>
          </c:val>
          <c:smooth val="0"/>
          <c:extLst>
            <c:ext xmlns:c16="http://schemas.microsoft.com/office/drawing/2014/chart" uri="{C3380CC4-5D6E-409C-BE32-E72D297353CC}">
              <c16:uniqueId val="{0000000C-6AB1-4497-827A-4279DD67BD2A}"/>
            </c:ext>
          </c:extLst>
        </c:ser>
        <c:ser>
          <c:idx val="13"/>
          <c:order val="13"/>
          <c:tx>
            <c:strRef>
              <c:f>Sheet1!$O$228:$O$229</c:f>
              <c:strCache>
                <c:ptCount val="1"/>
                <c:pt idx="0">
                  <c:v>SawSee</c:v>
                </c:pt>
              </c:strCache>
            </c:strRef>
          </c:tx>
          <c:spPr>
            <a:ln w="28575" cap="rnd">
              <a:solidFill>
                <a:schemeClr val="accent2">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Sheet1!$O$230:$O$234</c:f>
              <c:numCache>
                <c:formatCode>General</c:formatCode>
                <c:ptCount val="4"/>
                <c:pt idx="0">
                  <c:v>7285.5333333333338</c:v>
                </c:pt>
                <c:pt idx="1">
                  <c:v>9473.5499999999975</c:v>
                </c:pt>
                <c:pt idx="2">
                  <c:v>14466.05</c:v>
                </c:pt>
              </c:numCache>
            </c:numRef>
          </c:val>
          <c:smooth val="0"/>
          <c:extLst>
            <c:ext xmlns:c16="http://schemas.microsoft.com/office/drawing/2014/chart" uri="{C3380CC4-5D6E-409C-BE32-E72D297353CC}">
              <c16:uniqueId val="{0000000D-6AB1-4497-827A-4279DD67BD2A}"/>
            </c:ext>
          </c:extLst>
        </c:ser>
        <c:ser>
          <c:idx val="14"/>
          <c:order val="14"/>
          <c:tx>
            <c:strRef>
              <c:f>Sheet1!$P$228:$P$229</c:f>
              <c:strCache>
                <c:ptCount val="1"/>
                <c:pt idx="0">
                  <c:v>SuperSport Blitz</c:v>
                </c:pt>
              </c:strCache>
            </c:strRef>
          </c:tx>
          <c:spPr>
            <a:ln w="28575" cap="rnd">
              <a:solidFill>
                <a:schemeClr val="accent3">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Sheet1!$P$230:$P$234</c:f>
              <c:numCache>
                <c:formatCode>General</c:formatCode>
                <c:ptCount val="4"/>
                <c:pt idx="0">
                  <c:v>25837.099999999991</c:v>
                </c:pt>
                <c:pt idx="1">
                  <c:v>35850.683333333327</c:v>
                </c:pt>
                <c:pt idx="2">
                  <c:v>51151.016666666634</c:v>
                </c:pt>
                <c:pt idx="3">
                  <c:v>121.96666666666667</c:v>
                </c:pt>
              </c:numCache>
            </c:numRef>
          </c:val>
          <c:smooth val="0"/>
          <c:extLst>
            <c:ext xmlns:c16="http://schemas.microsoft.com/office/drawing/2014/chart" uri="{C3380CC4-5D6E-409C-BE32-E72D297353CC}">
              <c16:uniqueId val="{0000000E-6AB1-4497-827A-4279DD67BD2A}"/>
            </c:ext>
          </c:extLst>
        </c:ser>
        <c:ser>
          <c:idx val="15"/>
          <c:order val="15"/>
          <c:tx>
            <c:strRef>
              <c:f>Sheet1!$Q$228:$Q$229</c:f>
              <c:strCache>
                <c:ptCount val="1"/>
                <c:pt idx="0">
                  <c:v>Supersport Live Events</c:v>
                </c:pt>
              </c:strCache>
            </c:strRef>
          </c:tx>
          <c:spPr>
            <a:ln w="28575" cap="rnd">
              <a:solidFill>
                <a:schemeClr val="accent4">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Sheet1!$Q$230:$Q$234</c:f>
              <c:numCache>
                <c:formatCode>General</c:formatCode>
                <c:ptCount val="4"/>
                <c:pt idx="0">
                  <c:v>47857.299999999974</c:v>
                </c:pt>
                <c:pt idx="1">
                  <c:v>69650.866666666683</c:v>
                </c:pt>
                <c:pt idx="2">
                  <c:v>100746.46666666665</c:v>
                </c:pt>
              </c:numCache>
            </c:numRef>
          </c:val>
          <c:smooth val="0"/>
          <c:extLst>
            <c:ext xmlns:c16="http://schemas.microsoft.com/office/drawing/2014/chart" uri="{C3380CC4-5D6E-409C-BE32-E72D297353CC}">
              <c16:uniqueId val="{0000000F-6AB1-4497-827A-4279DD67BD2A}"/>
            </c:ext>
          </c:extLst>
        </c:ser>
        <c:ser>
          <c:idx val="16"/>
          <c:order val="16"/>
          <c:tx>
            <c:strRef>
              <c:f>Sheet1!$R$228:$R$229</c:f>
              <c:strCache>
                <c:ptCount val="1"/>
                <c:pt idx="0">
                  <c:v>Trace TV</c:v>
                </c:pt>
              </c:strCache>
            </c:strRef>
          </c:tx>
          <c:spPr>
            <a:ln w="28575" cap="rnd">
              <a:solidFill>
                <a:schemeClr val="accent5">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Sheet1!$R$230:$R$234</c:f>
              <c:numCache>
                <c:formatCode>General</c:formatCode>
                <c:ptCount val="4"/>
                <c:pt idx="0">
                  <c:v>37455.799999999996</c:v>
                </c:pt>
                <c:pt idx="1">
                  <c:v>35275.55000000001</c:v>
                </c:pt>
                <c:pt idx="2">
                  <c:v>53024.10000000002</c:v>
                </c:pt>
              </c:numCache>
            </c:numRef>
          </c:val>
          <c:smooth val="0"/>
          <c:extLst>
            <c:ext xmlns:c16="http://schemas.microsoft.com/office/drawing/2014/chart" uri="{C3380CC4-5D6E-409C-BE32-E72D297353CC}">
              <c16:uniqueId val="{00000010-6AB1-4497-827A-4279DD67BD2A}"/>
            </c:ext>
          </c:extLst>
        </c:ser>
        <c:ser>
          <c:idx val="17"/>
          <c:order val="17"/>
          <c:tx>
            <c:strRef>
              <c:f>Sheet1!$S$228:$S$229</c:f>
              <c:strCache>
                <c:ptCount val="1"/>
                <c:pt idx="0">
                  <c:v>Vuzu</c:v>
                </c:pt>
              </c:strCache>
            </c:strRef>
          </c:tx>
          <c:spPr>
            <a:ln w="28575" cap="rnd">
              <a:solidFill>
                <a:schemeClr val="accent6">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Sheet1!$S$230:$S$234</c:f>
              <c:numCache>
                <c:formatCode>General</c:formatCode>
                <c:ptCount val="4"/>
                <c:pt idx="0">
                  <c:v>3259.2666666666669</c:v>
                </c:pt>
                <c:pt idx="1">
                  <c:v>4711.5000000000009</c:v>
                </c:pt>
                <c:pt idx="2">
                  <c:v>5434.8833333333323</c:v>
                </c:pt>
              </c:numCache>
            </c:numRef>
          </c:val>
          <c:smooth val="0"/>
          <c:extLst>
            <c:ext xmlns:c16="http://schemas.microsoft.com/office/drawing/2014/chart" uri="{C3380CC4-5D6E-409C-BE32-E72D297353CC}">
              <c16:uniqueId val="{00000011-6AB1-4497-827A-4279DD67BD2A}"/>
            </c:ext>
          </c:extLst>
        </c:ser>
        <c:ser>
          <c:idx val="18"/>
          <c:order val="18"/>
          <c:tx>
            <c:strRef>
              <c:f>Sheet1!$T$228:$T$229</c:f>
              <c:strCache>
                <c:ptCount val="1"/>
                <c:pt idx="0">
                  <c:v>Wimbledon</c:v>
                </c:pt>
              </c:strCache>
            </c:strRef>
          </c:tx>
          <c:spPr>
            <a:ln w="28575" cap="rnd">
              <a:solidFill>
                <a:schemeClr val="accent1">
                  <a:lumMod val="80000"/>
                </a:schemeClr>
              </a:solidFill>
              <a:round/>
            </a:ln>
            <a:effectLst/>
          </c:spPr>
          <c:marker>
            <c:symbol val="none"/>
          </c:marker>
          <c:cat>
            <c:strRef>
              <c:f>Sheet1!$A$230:$A$234</c:f>
              <c:strCache>
                <c:ptCount val="4"/>
                <c:pt idx="0">
                  <c:v>Jan</c:v>
                </c:pt>
                <c:pt idx="1">
                  <c:v>Feb</c:v>
                </c:pt>
                <c:pt idx="2">
                  <c:v>Mar</c:v>
                </c:pt>
                <c:pt idx="3">
                  <c:v>Apr</c:v>
                </c:pt>
              </c:strCache>
            </c:strRef>
          </c:cat>
          <c:val>
            <c:numRef>
              <c:f>Sheet1!$T$230:$T$234</c:f>
              <c:numCache>
                <c:formatCode>General</c:formatCode>
                <c:ptCount val="4"/>
                <c:pt idx="1">
                  <c:v>360.51666666666665</c:v>
                </c:pt>
              </c:numCache>
            </c:numRef>
          </c:val>
          <c:smooth val="0"/>
          <c:extLst>
            <c:ext xmlns:c16="http://schemas.microsoft.com/office/drawing/2014/chart" uri="{C3380CC4-5D6E-409C-BE32-E72D297353CC}">
              <c16:uniqueId val="{00000012-6AB1-4497-827A-4279DD67BD2A}"/>
            </c:ext>
          </c:extLst>
        </c:ser>
        <c:dLbls>
          <c:showLegendKey val="0"/>
          <c:showVal val="0"/>
          <c:showCatName val="0"/>
          <c:showSerName val="0"/>
          <c:showPercent val="0"/>
          <c:showBubbleSize val="0"/>
        </c:dLbls>
        <c:smooth val="0"/>
        <c:axId val="661108544"/>
        <c:axId val="661094624"/>
      </c:lineChart>
      <c:catAx>
        <c:axId val="66110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94624"/>
        <c:crosses val="autoZero"/>
        <c:auto val="1"/>
        <c:lblAlgn val="ctr"/>
        <c:lblOffset val="100"/>
        <c:noMultiLvlLbl val="0"/>
      </c:catAx>
      <c:valAx>
        <c:axId val="6610946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1085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[Latest.xlsx]Sheet1!PivotTable14</c:name>
    <c:fmtId val="4"/>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Engagement of users by day of the week</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Sheet1!$B$333</c:f>
              <c:strCache>
                <c:ptCount val="1"/>
                <c:pt idx="0">
                  <c:v>Sum of duration_minutes</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Sheet1!$A$334:$A$336</c:f>
              <c:strCache>
                <c:ptCount val="2"/>
                <c:pt idx="0">
                  <c:v>Weekday</c:v>
                </c:pt>
                <c:pt idx="1">
                  <c:v>Weekend</c:v>
                </c:pt>
              </c:strCache>
            </c:strRef>
          </c:cat>
          <c:val>
            <c:numRef>
              <c:f>Sheet1!$B$334:$B$336</c:f>
              <c:numCache>
                <c:formatCode>General</c:formatCode>
                <c:ptCount val="2"/>
                <c:pt idx="0">
                  <c:v>895686.28333333367</c:v>
                </c:pt>
                <c:pt idx="1">
                  <c:v>395693.76666666759</c:v>
                </c:pt>
              </c:numCache>
            </c:numRef>
          </c:val>
          <c:extLst>
            <c:ext xmlns:c16="http://schemas.microsoft.com/office/drawing/2014/chart" uri="{C3380CC4-5D6E-409C-BE32-E72D297353CC}">
              <c16:uniqueId val="{00000000-EDEE-4611-B16E-A47347A60197}"/>
            </c:ext>
          </c:extLst>
        </c:ser>
        <c:ser>
          <c:idx val="1"/>
          <c:order val="1"/>
          <c:tx>
            <c:strRef>
              <c:f>Sheet1!$C$333</c:f>
              <c:strCache>
                <c:ptCount val="1"/>
                <c:pt idx="0">
                  <c:v>Count of UserID</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Sheet1!$A$334:$A$336</c:f>
              <c:strCache>
                <c:ptCount val="2"/>
                <c:pt idx="0">
                  <c:v>Weekday</c:v>
                </c:pt>
                <c:pt idx="1">
                  <c:v>Weekend</c:v>
                </c:pt>
              </c:strCache>
            </c:strRef>
          </c:cat>
          <c:val>
            <c:numRef>
              <c:f>Sheet1!$C$334:$C$336</c:f>
              <c:numCache>
                <c:formatCode>General</c:formatCode>
                <c:ptCount val="2"/>
                <c:pt idx="0">
                  <c:v>7937</c:v>
                </c:pt>
                <c:pt idx="1">
                  <c:v>3052</c:v>
                </c:pt>
              </c:numCache>
            </c:numRef>
          </c:val>
          <c:extLst>
            <c:ext xmlns:c16="http://schemas.microsoft.com/office/drawing/2014/chart" uri="{C3380CC4-5D6E-409C-BE32-E72D297353CC}">
              <c16:uniqueId val="{00000001-EDEE-4611-B16E-A47347A60197}"/>
            </c:ext>
          </c:extLst>
        </c:ser>
        <c:dLbls>
          <c:dLblPos val="outEnd"/>
          <c:showLegendKey val="0"/>
          <c:showVal val="1"/>
          <c:showCatName val="0"/>
          <c:showSerName val="0"/>
          <c:showPercent val="0"/>
          <c:showBubbleSize val="0"/>
        </c:dLbls>
        <c:gapWidth val="444"/>
        <c:overlap val="-90"/>
        <c:axId val="662702800"/>
        <c:axId val="662719600"/>
      </c:barChart>
      <c:catAx>
        <c:axId val="662702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662719600"/>
        <c:crosses val="autoZero"/>
        <c:auto val="1"/>
        <c:lblAlgn val="ctr"/>
        <c:lblOffset val="100"/>
        <c:noMultiLvlLbl val="0"/>
      </c:catAx>
      <c:valAx>
        <c:axId val="662719600"/>
        <c:scaling>
          <c:orientation val="minMax"/>
        </c:scaling>
        <c:delete val="1"/>
        <c:axPos val="l"/>
        <c:numFmt formatCode="General" sourceLinked="1"/>
        <c:majorTickMark val="none"/>
        <c:minorTickMark val="none"/>
        <c:tickLblPos val="nextTo"/>
        <c:crossAx val="6627028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4/18/2026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4/18/2026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7732C3C-A191-48C2-A7E8-9C96AF841A7A}" type="slidenum">
              <a:rPr lang="en-US" smtClean="0"/>
              <a:t>11</a:t>
            </a:fld>
            <a:endParaRPr lang="en-US" dirty="0"/>
          </a:p>
        </p:txBody>
      </p:sp>
    </p:spTree>
    <p:extLst>
      <p:ext uri="{BB962C8B-B14F-4D97-AF65-F5344CB8AC3E}">
        <p14:creationId xmlns:p14="http://schemas.microsoft.com/office/powerpoint/2010/main" val="4244462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18</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4/18/2026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633046"/>
            <a:ext cx="10571998" cy="2626348"/>
          </a:xfrm>
        </p:spPr>
        <p:txBody>
          <a:bodyPr/>
          <a:lstStyle/>
          <a:p>
            <a:pPr lvl="0"/>
            <a:r>
              <a:rPr lang="en-US" noProof="0" dirty="0"/>
              <a:t>BRIGHT TV PRESENTATION</a:t>
            </a:r>
          </a:p>
        </p:txBody>
      </p:sp>
      <p:sp>
        <p:nvSpPr>
          <p:cNvPr id="3" name="TextBox 2">
            <a:extLst>
              <a:ext uri="{FF2B5EF4-FFF2-40B4-BE49-F238E27FC236}">
                <a16:creationId xmlns:a16="http://schemas.microsoft.com/office/drawing/2014/main" id="{98C10DB2-1B6F-F59E-6AF4-AC8AC7012182}"/>
              </a:ext>
            </a:extLst>
          </p:cNvPr>
          <p:cNvSpPr txBox="1"/>
          <p:nvPr/>
        </p:nvSpPr>
        <p:spPr>
          <a:xfrm>
            <a:off x="1135626" y="3429000"/>
            <a:ext cx="10604090" cy="400110"/>
          </a:xfrm>
          <a:prstGeom prst="rect">
            <a:avLst/>
          </a:prstGeom>
          <a:noFill/>
        </p:spPr>
        <p:txBody>
          <a:bodyPr wrap="square" rtlCol="0">
            <a:spAutoFit/>
          </a:bodyPr>
          <a:lstStyle/>
          <a:p>
            <a:r>
              <a:rPr lang="en-ZA" sz="2000" b="1" u="sng" spc="-300" dirty="0">
                <a:solidFill>
                  <a:schemeClr val="accent4">
                    <a:lumMod val="60000"/>
                    <a:lumOff val="40000"/>
                  </a:schemeClr>
                </a:solidFill>
                <a:latin typeface="+mj-lt"/>
                <a:ea typeface="+mj-ea"/>
                <a:cs typeface="+mj-cs"/>
              </a:rPr>
              <a:t>Presenter:  </a:t>
            </a:r>
            <a:r>
              <a:rPr lang="en-ZA" sz="2000" b="1" spc="-300" dirty="0" err="1">
                <a:solidFill>
                  <a:schemeClr val="accent4">
                    <a:lumMod val="60000"/>
                    <a:lumOff val="40000"/>
                  </a:schemeClr>
                </a:solidFill>
                <a:latin typeface="+mj-lt"/>
                <a:ea typeface="+mj-ea"/>
                <a:cs typeface="+mj-cs"/>
              </a:rPr>
              <a:t>Ndadlana</a:t>
            </a:r>
            <a:r>
              <a:rPr lang="en-ZA" sz="2000" b="1" spc="-300" dirty="0">
                <a:solidFill>
                  <a:schemeClr val="accent4">
                    <a:lumMod val="60000"/>
                    <a:lumOff val="40000"/>
                  </a:schemeClr>
                </a:solidFill>
                <a:latin typeface="+mj-lt"/>
                <a:ea typeface="+mj-ea"/>
                <a:cs typeface="+mj-cs"/>
              </a:rPr>
              <a:t> Piet Maseko</a:t>
            </a:r>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23E3E7-3A77-6B4A-F2B7-6B3A7A90451C}"/>
              </a:ext>
            </a:extLst>
          </p:cNvPr>
          <p:cNvSpPr>
            <a:spLocks noGrp="1"/>
          </p:cNvSpPr>
          <p:nvPr>
            <p:ph type="title"/>
          </p:nvPr>
        </p:nvSpPr>
        <p:spPr>
          <a:xfrm>
            <a:off x="498407" y="427702"/>
            <a:ext cx="11195185" cy="1172497"/>
          </a:xfrm>
        </p:spPr>
        <p:txBody>
          <a:bodyPr/>
          <a:lstStyle/>
          <a:p>
            <a:pPr algn="l"/>
            <a:r>
              <a:rPr lang="en-ZA" sz="6600" dirty="0"/>
              <a:t>OUTLINE</a:t>
            </a:r>
          </a:p>
        </p:txBody>
      </p:sp>
      <p:sp>
        <p:nvSpPr>
          <p:cNvPr id="5" name="TextBox 4">
            <a:extLst>
              <a:ext uri="{FF2B5EF4-FFF2-40B4-BE49-F238E27FC236}">
                <a16:creationId xmlns:a16="http://schemas.microsoft.com/office/drawing/2014/main" id="{13D64577-0013-D0DD-D3BA-AB12FF538CED}"/>
              </a:ext>
            </a:extLst>
          </p:cNvPr>
          <p:cNvSpPr txBox="1"/>
          <p:nvPr/>
        </p:nvSpPr>
        <p:spPr>
          <a:xfrm>
            <a:off x="498407" y="1600199"/>
            <a:ext cx="11195185" cy="3693319"/>
          </a:xfrm>
          <a:prstGeom prst="rect">
            <a:avLst/>
          </a:prstGeom>
          <a:noFill/>
        </p:spPr>
        <p:txBody>
          <a:bodyPr wrap="square" rtlCol="0">
            <a:spAutoFit/>
          </a:bodyPr>
          <a:lstStyle/>
          <a:p>
            <a:r>
              <a:rPr lang="en-ZA" sz="3600" dirty="0"/>
              <a:t>Introduction</a:t>
            </a:r>
          </a:p>
          <a:p>
            <a:r>
              <a:rPr lang="en-ZA" sz="3600" dirty="0"/>
              <a:t>Problem statement</a:t>
            </a:r>
          </a:p>
          <a:p>
            <a:r>
              <a:rPr lang="en-ZA" sz="3600" dirty="0"/>
              <a:t>Objectives</a:t>
            </a:r>
          </a:p>
          <a:p>
            <a:r>
              <a:rPr lang="en-ZA" sz="3600" dirty="0"/>
              <a:t>Results</a:t>
            </a:r>
          </a:p>
          <a:p>
            <a:r>
              <a:rPr lang="en-ZA" sz="3600" dirty="0"/>
              <a:t>Conclusion</a:t>
            </a:r>
          </a:p>
          <a:p>
            <a:r>
              <a:rPr lang="en-ZA" sz="3600" dirty="0"/>
              <a:t>Recommendations</a:t>
            </a:r>
          </a:p>
          <a:p>
            <a:endParaRPr lang="en-ZA" dirty="0"/>
          </a:p>
        </p:txBody>
      </p:sp>
    </p:spTree>
    <p:extLst>
      <p:ext uri="{BB962C8B-B14F-4D97-AF65-F5344CB8AC3E}">
        <p14:creationId xmlns:p14="http://schemas.microsoft.com/office/powerpoint/2010/main" val="3406381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9BA08-8FA6-AB28-7438-CF581BFD92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AC7FD6-4FA6-B459-FDAB-B94AB7471E3E}"/>
              </a:ext>
            </a:extLst>
          </p:cNvPr>
          <p:cNvSpPr>
            <a:spLocks noGrp="1"/>
          </p:cNvSpPr>
          <p:nvPr>
            <p:ph type="title"/>
          </p:nvPr>
        </p:nvSpPr>
        <p:spPr>
          <a:xfrm>
            <a:off x="498407" y="427702"/>
            <a:ext cx="11195185" cy="1172497"/>
          </a:xfrm>
        </p:spPr>
        <p:txBody>
          <a:bodyPr/>
          <a:lstStyle/>
          <a:p>
            <a:pPr algn="l"/>
            <a:r>
              <a:rPr lang="en-ZA" sz="6600" dirty="0"/>
              <a:t>INTRODUCTION</a:t>
            </a:r>
          </a:p>
        </p:txBody>
      </p:sp>
      <p:sp>
        <p:nvSpPr>
          <p:cNvPr id="5" name="TextBox 4">
            <a:extLst>
              <a:ext uri="{FF2B5EF4-FFF2-40B4-BE49-F238E27FC236}">
                <a16:creationId xmlns:a16="http://schemas.microsoft.com/office/drawing/2014/main" id="{3A9206F1-A9EE-4DC2-1921-7A9482C41186}"/>
              </a:ext>
            </a:extLst>
          </p:cNvPr>
          <p:cNvSpPr txBox="1"/>
          <p:nvPr/>
        </p:nvSpPr>
        <p:spPr>
          <a:xfrm>
            <a:off x="498407" y="1600199"/>
            <a:ext cx="11195185" cy="3600986"/>
          </a:xfrm>
          <a:prstGeom prst="rect">
            <a:avLst/>
          </a:prstGeom>
          <a:noFill/>
        </p:spPr>
        <p:txBody>
          <a:bodyPr wrap="square" rtlCol="0">
            <a:spAutoFit/>
          </a:bodyPr>
          <a:lstStyle/>
          <a:p>
            <a:r>
              <a:rPr lang="en-ZA" sz="3600" dirty="0"/>
              <a:t>ABOUT US:</a:t>
            </a:r>
          </a:p>
          <a:p>
            <a:pPr algn="just"/>
            <a:r>
              <a:rPr lang="en-ZA" sz="2400" dirty="0" err="1"/>
              <a:t>BrightTV</a:t>
            </a:r>
            <a:r>
              <a:rPr lang="en-ZA" sz="2400" dirty="0"/>
              <a:t> is a dynamic entertainment platform dedicated to delivering personalized and engaging viewing experiences through data-driven insights. By analysing customer behaviour and preferences, we aim to provide content that resonates with our diverse audience while enhancing user engagement and satisfaction. Our approach combines innovative technology with strategic decision-making to optimize content delivery, support business growth and create meaningful connections with our viewers.</a:t>
            </a:r>
          </a:p>
        </p:txBody>
      </p:sp>
    </p:spTree>
    <p:extLst>
      <p:ext uri="{BB962C8B-B14F-4D97-AF65-F5344CB8AC3E}">
        <p14:creationId xmlns:p14="http://schemas.microsoft.com/office/powerpoint/2010/main" val="3361408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BFC83-BFA2-4E74-E5EC-B63214E45B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34FF92-6FDD-89EF-D746-B65A6B84C43E}"/>
              </a:ext>
            </a:extLst>
          </p:cNvPr>
          <p:cNvSpPr>
            <a:spLocks noGrp="1"/>
          </p:cNvSpPr>
          <p:nvPr>
            <p:ph type="title"/>
          </p:nvPr>
        </p:nvSpPr>
        <p:spPr>
          <a:xfrm>
            <a:off x="498407" y="427702"/>
            <a:ext cx="11195185" cy="1172497"/>
          </a:xfrm>
        </p:spPr>
        <p:txBody>
          <a:bodyPr/>
          <a:lstStyle/>
          <a:p>
            <a:pPr algn="l"/>
            <a:r>
              <a:rPr lang="en-ZA" sz="6600" dirty="0"/>
              <a:t>PROBLEM STATEMENT</a:t>
            </a:r>
          </a:p>
        </p:txBody>
      </p:sp>
      <p:sp>
        <p:nvSpPr>
          <p:cNvPr id="5" name="TextBox 4">
            <a:extLst>
              <a:ext uri="{FF2B5EF4-FFF2-40B4-BE49-F238E27FC236}">
                <a16:creationId xmlns:a16="http://schemas.microsoft.com/office/drawing/2014/main" id="{BEC47CA0-B81A-2879-5766-9C5B9FB32FED}"/>
              </a:ext>
            </a:extLst>
          </p:cNvPr>
          <p:cNvSpPr txBox="1"/>
          <p:nvPr/>
        </p:nvSpPr>
        <p:spPr>
          <a:xfrm>
            <a:off x="498407" y="1600199"/>
            <a:ext cx="11195185" cy="2308324"/>
          </a:xfrm>
          <a:prstGeom prst="rect">
            <a:avLst/>
          </a:prstGeom>
          <a:noFill/>
        </p:spPr>
        <p:txBody>
          <a:bodyPr wrap="square" rtlCol="0">
            <a:spAutoFit/>
          </a:bodyPr>
          <a:lstStyle/>
          <a:p>
            <a:pPr algn="just"/>
            <a:r>
              <a:rPr lang="en-ZA" sz="3600" dirty="0" err="1"/>
              <a:t>BrightTV</a:t>
            </a:r>
            <a:r>
              <a:rPr lang="en-ZA" sz="3600" dirty="0"/>
              <a:t> aims to grow its subscription base but lacks clear insights into customer behaviour, preferences and engagement needed to effectively attract and retain high-value users.</a:t>
            </a:r>
            <a:endParaRPr lang="en-ZA" dirty="0"/>
          </a:p>
        </p:txBody>
      </p:sp>
    </p:spTree>
    <p:extLst>
      <p:ext uri="{BB962C8B-B14F-4D97-AF65-F5344CB8AC3E}">
        <p14:creationId xmlns:p14="http://schemas.microsoft.com/office/powerpoint/2010/main" val="354745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1F51A-8608-41D5-8AF9-9AC853BDBE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6C69E0-15FC-71DC-DB3B-429AD9895A19}"/>
              </a:ext>
            </a:extLst>
          </p:cNvPr>
          <p:cNvSpPr>
            <a:spLocks noGrp="1"/>
          </p:cNvSpPr>
          <p:nvPr>
            <p:ph type="title"/>
          </p:nvPr>
        </p:nvSpPr>
        <p:spPr>
          <a:xfrm>
            <a:off x="498407" y="457198"/>
            <a:ext cx="11195185" cy="1172497"/>
          </a:xfrm>
        </p:spPr>
        <p:txBody>
          <a:bodyPr/>
          <a:lstStyle/>
          <a:p>
            <a:pPr algn="l"/>
            <a:r>
              <a:rPr lang="en-ZA" sz="6600" dirty="0"/>
              <a:t>OBJECTIVES</a:t>
            </a:r>
          </a:p>
        </p:txBody>
      </p:sp>
      <p:sp>
        <p:nvSpPr>
          <p:cNvPr id="9" name="TextBox 8">
            <a:extLst>
              <a:ext uri="{FF2B5EF4-FFF2-40B4-BE49-F238E27FC236}">
                <a16:creationId xmlns:a16="http://schemas.microsoft.com/office/drawing/2014/main" id="{E43771D3-F60A-9441-DF8A-DA812D7EAC87}"/>
              </a:ext>
            </a:extLst>
          </p:cNvPr>
          <p:cNvSpPr txBox="1"/>
          <p:nvPr/>
        </p:nvSpPr>
        <p:spPr>
          <a:xfrm>
            <a:off x="383459" y="1600199"/>
            <a:ext cx="11296296" cy="4370427"/>
          </a:xfrm>
          <a:prstGeom prst="rect">
            <a:avLst/>
          </a:prstGeom>
          <a:noFill/>
        </p:spPr>
        <p:txBody>
          <a:bodyPr wrap="square" rtlCol="0">
            <a:spAutoFit/>
          </a:bodyPr>
          <a:lstStyle/>
          <a:p>
            <a:pPr marL="457200" indent="-457200" algn="just">
              <a:buFont typeface="Arial" panose="020B0604020202020204" pitchFamily="34" charset="0"/>
              <a:buChar char="•"/>
            </a:pPr>
            <a:r>
              <a:rPr lang="en-ZA" sz="2600" dirty="0"/>
              <a:t>What is the key customer groups and what gender classification do they belong in?</a:t>
            </a:r>
          </a:p>
          <a:p>
            <a:pPr marL="457200" indent="-457200" algn="just">
              <a:buFont typeface="Arial" panose="020B0604020202020204" pitchFamily="34" charset="0"/>
              <a:buChar char="•"/>
            </a:pPr>
            <a:r>
              <a:rPr lang="en-ZA" sz="2600" dirty="0"/>
              <a:t>Which provinces makes up the highest and lowest performance in terms of viewership or subscriptions?</a:t>
            </a:r>
          </a:p>
          <a:p>
            <a:pPr marL="457200" indent="-457200" algn="just">
              <a:buFont typeface="Arial" panose="020B0604020202020204" pitchFamily="34" charset="0"/>
              <a:buChar char="•"/>
            </a:pPr>
            <a:r>
              <a:rPr lang="en-ZA" sz="2600" dirty="0"/>
              <a:t>Which racial groups contribute most to engagement or viewership?</a:t>
            </a:r>
          </a:p>
          <a:p>
            <a:pPr marL="457200" indent="-457200" algn="just">
              <a:buFont typeface="Arial" panose="020B0604020202020204" pitchFamily="34" charset="0"/>
              <a:buChar char="•"/>
            </a:pPr>
            <a:r>
              <a:rPr lang="en-ZA" sz="2600" dirty="0"/>
              <a:t>Which channel has the highest user engagement or viewership?</a:t>
            </a:r>
          </a:p>
          <a:p>
            <a:pPr marL="457200" indent="-457200" algn="just">
              <a:buFont typeface="Arial" panose="020B0604020202020204" pitchFamily="34" charset="0"/>
              <a:buChar char="•"/>
            </a:pPr>
            <a:r>
              <a:rPr lang="en-ZA" sz="2600" dirty="0"/>
              <a:t>How does user engagement vary across the days of the week?</a:t>
            </a:r>
          </a:p>
          <a:p>
            <a:pPr marL="457200" indent="-457200" algn="just">
              <a:buFont typeface="Arial" panose="020B0604020202020204" pitchFamily="34" charset="0"/>
              <a:buChar char="•"/>
            </a:pPr>
            <a:r>
              <a:rPr lang="en-ZA" sz="2600" dirty="0"/>
              <a:t>How does engagement change over different hours or periods?</a:t>
            </a:r>
          </a:p>
          <a:p>
            <a:pPr marL="457200" indent="-457200" algn="just">
              <a:buFont typeface="Arial" panose="020B0604020202020204" pitchFamily="34" charset="0"/>
              <a:buChar char="•"/>
            </a:pPr>
            <a:r>
              <a:rPr lang="en-ZA" sz="2600" dirty="0"/>
              <a:t>Which users are high-value, and which are high-risk?</a:t>
            </a:r>
          </a:p>
          <a:p>
            <a:endParaRPr lang="en-ZA" dirty="0"/>
          </a:p>
        </p:txBody>
      </p:sp>
    </p:spTree>
    <p:extLst>
      <p:ext uri="{BB962C8B-B14F-4D97-AF65-F5344CB8AC3E}">
        <p14:creationId xmlns:p14="http://schemas.microsoft.com/office/powerpoint/2010/main" val="908062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9577-5D03-A16C-9C0D-FFE89E8327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C81451-0F1B-4FEF-56B1-740267159B53}"/>
              </a:ext>
            </a:extLst>
          </p:cNvPr>
          <p:cNvSpPr txBox="1"/>
          <p:nvPr/>
        </p:nvSpPr>
        <p:spPr>
          <a:xfrm>
            <a:off x="539615" y="1408470"/>
            <a:ext cx="11195184" cy="4585871"/>
          </a:xfrm>
          <a:prstGeom prst="rect">
            <a:avLst/>
          </a:prstGeom>
          <a:noFill/>
        </p:spPr>
        <p:txBody>
          <a:bodyPr wrap="square" rtlCol="0">
            <a:spAutoFit/>
          </a:bodyPr>
          <a:lstStyle/>
          <a:p>
            <a:pPr algn="just"/>
            <a:r>
              <a:rPr lang="en-ZA" sz="3200" b="1" dirty="0"/>
              <a:t>ABOUT THE DATA:</a:t>
            </a:r>
          </a:p>
          <a:p>
            <a:pPr algn="just"/>
            <a:endParaRPr lang="en-ZA" sz="2000" dirty="0"/>
          </a:p>
          <a:p>
            <a:pPr algn="just"/>
            <a:r>
              <a:rPr lang="en-ZA" sz="2000" b="1" dirty="0"/>
              <a:t>Sample size</a:t>
            </a:r>
          </a:p>
          <a:p>
            <a:pPr marL="342900" indent="-342900" algn="just">
              <a:buFont typeface="Arial" panose="020B0604020202020204" pitchFamily="34" charset="0"/>
              <a:buChar char="•"/>
            </a:pPr>
            <a:r>
              <a:rPr lang="en-ZA" sz="2000" dirty="0"/>
              <a:t>There are 10 </a:t>
            </a:r>
            <a:r>
              <a:rPr lang="en-ZA" sz="2000"/>
              <a:t>989 total users </a:t>
            </a:r>
            <a:endParaRPr lang="en-ZA" sz="2000" dirty="0"/>
          </a:p>
          <a:p>
            <a:pPr marL="342900" indent="-342900" algn="just">
              <a:buFont typeface="Arial" panose="020B0604020202020204" pitchFamily="34" charset="0"/>
              <a:buChar char="•"/>
            </a:pPr>
            <a:r>
              <a:rPr lang="en-ZA" sz="2000" dirty="0"/>
              <a:t>5375 users are unique</a:t>
            </a:r>
          </a:p>
          <a:p>
            <a:pPr marL="342900" indent="-342900" algn="just">
              <a:buFont typeface="Arial" panose="020B0604020202020204" pitchFamily="34" charset="0"/>
              <a:buChar char="•"/>
            </a:pPr>
            <a:r>
              <a:rPr lang="en-ZA" sz="2000" dirty="0"/>
              <a:t>There is a lot of missing data</a:t>
            </a:r>
          </a:p>
          <a:p>
            <a:pPr algn="just"/>
            <a:endParaRPr lang="en-ZA" sz="2000" dirty="0"/>
          </a:p>
          <a:p>
            <a:pPr algn="just"/>
            <a:r>
              <a:rPr lang="en-ZA" sz="2000" b="1" dirty="0"/>
              <a:t>Duration of data</a:t>
            </a:r>
          </a:p>
          <a:p>
            <a:pPr marL="342900" indent="-342900" algn="just">
              <a:buFont typeface="Arial" panose="020B0604020202020204" pitchFamily="34" charset="0"/>
              <a:buChar char="•"/>
            </a:pPr>
            <a:r>
              <a:rPr lang="en-ZA" sz="2000" dirty="0"/>
              <a:t>Data was taken for 4 months, January 2016 to April 2016</a:t>
            </a:r>
          </a:p>
          <a:p>
            <a:pPr algn="just"/>
            <a:endParaRPr lang="en-ZA" sz="2000" dirty="0"/>
          </a:p>
          <a:p>
            <a:pPr algn="just"/>
            <a:r>
              <a:rPr lang="en-ZA" sz="2000" b="1" dirty="0"/>
              <a:t>Total viewing time</a:t>
            </a:r>
          </a:p>
          <a:p>
            <a:pPr marL="342900" indent="-342900" algn="just">
              <a:buFont typeface="Arial" panose="020B0604020202020204" pitchFamily="34" charset="0"/>
              <a:buChar char="•"/>
            </a:pPr>
            <a:r>
              <a:rPr lang="en-ZA" sz="2000" dirty="0"/>
              <a:t>There is a total of 1 291 380 minutes (21 623 hours) spent viewing the channels</a:t>
            </a:r>
          </a:p>
          <a:p>
            <a:pPr marL="342900" indent="-342900" algn="just">
              <a:buFont typeface="Arial" panose="020B0604020202020204" pitchFamily="34" charset="0"/>
              <a:buChar char="•"/>
            </a:pPr>
            <a:r>
              <a:rPr lang="en-ZA" sz="2000" dirty="0"/>
              <a:t>A significant portion had 0 sum of minutes spent</a:t>
            </a:r>
          </a:p>
          <a:p>
            <a:pPr algn="just"/>
            <a:endParaRPr lang="en-ZA" sz="2000" dirty="0"/>
          </a:p>
        </p:txBody>
      </p:sp>
      <p:sp>
        <p:nvSpPr>
          <p:cNvPr id="2" name="Title 3">
            <a:extLst>
              <a:ext uri="{FF2B5EF4-FFF2-40B4-BE49-F238E27FC236}">
                <a16:creationId xmlns:a16="http://schemas.microsoft.com/office/drawing/2014/main" id="{0262DAB6-0156-F147-7877-A92E3FC70318}"/>
              </a:ext>
            </a:extLst>
          </p:cNvPr>
          <p:cNvSpPr>
            <a:spLocks noGrp="1"/>
          </p:cNvSpPr>
          <p:nvPr>
            <p:ph type="title"/>
          </p:nvPr>
        </p:nvSpPr>
        <p:spPr>
          <a:xfrm>
            <a:off x="457200" y="235973"/>
            <a:ext cx="11195185" cy="1172497"/>
          </a:xfrm>
        </p:spPr>
        <p:txBody>
          <a:bodyPr/>
          <a:lstStyle/>
          <a:p>
            <a:pPr algn="l"/>
            <a:r>
              <a:rPr lang="en-ZA" sz="6600" dirty="0"/>
              <a:t>RESULTS</a:t>
            </a:r>
          </a:p>
        </p:txBody>
      </p:sp>
    </p:spTree>
    <p:extLst>
      <p:ext uri="{BB962C8B-B14F-4D97-AF65-F5344CB8AC3E}">
        <p14:creationId xmlns:p14="http://schemas.microsoft.com/office/powerpoint/2010/main" val="58303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344D4-372C-A975-0970-53B1F1531D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FD791F-7989-2ED5-791E-2E272DEDA864}"/>
              </a:ext>
            </a:extLst>
          </p:cNvPr>
          <p:cNvSpPr txBox="1"/>
          <p:nvPr/>
        </p:nvSpPr>
        <p:spPr>
          <a:xfrm>
            <a:off x="457202" y="717143"/>
            <a:ext cx="5368413" cy="4647426"/>
          </a:xfrm>
          <a:prstGeom prst="rect">
            <a:avLst/>
          </a:prstGeom>
          <a:noFill/>
        </p:spPr>
        <p:txBody>
          <a:bodyPr wrap="square" rtlCol="0">
            <a:spAutoFit/>
          </a:bodyPr>
          <a:lstStyle/>
          <a:p>
            <a:pPr marL="285750" indent="-285750" algn="just">
              <a:buFont typeface="Arial" panose="020B0604020202020204" pitchFamily="34" charset="0"/>
              <a:buChar char="•"/>
            </a:pPr>
            <a:r>
              <a:rPr lang="en-ZA" sz="2000" dirty="0"/>
              <a:t>Youth have the highest count of users, especially males.</a:t>
            </a:r>
          </a:p>
          <a:p>
            <a:pPr marL="285750" indent="-285750" algn="just">
              <a:buFont typeface="Arial" panose="020B0604020202020204" pitchFamily="34" charset="0"/>
              <a:buChar char="•"/>
            </a:pPr>
            <a:r>
              <a:rPr lang="en-ZA" sz="2000" dirty="0"/>
              <a:t>Males have highest number of users in almost all age groups.</a:t>
            </a:r>
          </a:p>
          <a:p>
            <a:pPr marL="285750" indent="-285750" algn="just">
              <a:buFont typeface="Arial" panose="020B0604020202020204" pitchFamily="34" charset="0"/>
              <a:buChar char="•"/>
            </a:pPr>
            <a:r>
              <a:rPr lang="en-ZA" sz="2000" dirty="0"/>
              <a:t>Middle age adults are the second highest count of users (males still dominate).</a:t>
            </a:r>
          </a:p>
          <a:p>
            <a:pPr marL="285750" indent="-285750" algn="just">
              <a:buFont typeface="Arial" panose="020B0604020202020204" pitchFamily="34" charset="0"/>
              <a:buChar char="•"/>
            </a:pPr>
            <a:r>
              <a:rPr lang="en-ZA" sz="2000" dirty="0"/>
              <a:t>Elderly age group are the third highest count of users, with </a:t>
            </a:r>
            <a:r>
              <a:rPr lang="en-ZA" sz="2000" b="1" dirty="0"/>
              <a:t>None </a:t>
            </a:r>
            <a:r>
              <a:rPr lang="en-ZA" sz="2000" dirty="0"/>
              <a:t>gender dominating. This is concerning because it affects data quality.</a:t>
            </a:r>
          </a:p>
          <a:p>
            <a:pPr marL="285750" indent="-285750" algn="just">
              <a:buFont typeface="Arial" panose="020B0604020202020204" pitchFamily="34" charset="0"/>
              <a:buChar char="•"/>
            </a:pPr>
            <a:r>
              <a:rPr lang="en-ZA" sz="2000" dirty="0"/>
              <a:t>Teenage and child groups have lower representations  of user.</a:t>
            </a:r>
          </a:p>
          <a:p>
            <a:r>
              <a:rPr lang="en-ZA" dirty="0"/>
              <a:t> </a:t>
            </a:r>
          </a:p>
          <a:p>
            <a:endParaRPr lang="en-ZA" dirty="0"/>
          </a:p>
        </p:txBody>
      </p:sp>
      <p:graphicFrame>
        <p:nvGraphicFramePr>
          <p:cNvPr id="3" name="Chart 2">
            <a:extLst>
              <a:ext uri="{FF2B5EF4-FFF2-40B4-BE49-F238E27FC236}">
                <a16:creationId xmlns:a16="http://schemas.microsoft.com/office/drawing/2014/main" id="{173D0C2E-B1A7-3F6A-3E1C-8D5697316A74}"/>
              </a:ext>
            </a:extLst>
          </p:cNvPr>
          <p:cNvGraphicFramePr>
            <a:graphicFrameLocks/>
          </p:cNvGraphicFramePr>
          <p:nvPr>
            <p:extLst>
              <p:ext uri="{D42A27DB-BD31-4B8C-83A1-F6EECF244321}">
                <p14:modId xmlns:p14="http://schemas.microsoft.com/office/powerpoint/2010/main" val="669122852"/>
              </p:ext>
            </p:extLst>
          </p:nvPr>
        </p:nvGraphicFramePr>
        <p:xfrm>
          <a:off x="5866819" y="717143"/>
          <a:ext cx="5867979" cy="483209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2038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D350-8435-64DE-FC24-8826F71C12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C59C49-3FE9-86FA-1D13-F16FD2B91579}"/>
              </a:ext>
            </a:extLst>
          </p:cNvPr>
          <p:cNvSpPr txBox="1"/>
          <p:nvPr/>
        </p:nvSpPr>
        <p:spPr>
          <a:xfrm>
            <a:off x="464024" y="4333825"/>
            <a:ext cx="11727976" cy="2523768"/>
          </a:xfrm>
          <a:prstGeom prst="rect">
            <a:avLst/>
          </a:prstGeom>
          <a:noFill/>
        </p:spPr>
        <p:txBody>
          <a:bodyPr wrap="square" rtlCol="0">
            <a:spAutoFit/>
          </a:bodyPr>
          <a:lstStyle/>
          <a:p>
            <a:pPr marL="342900" indent="-342900" algn="just">
              <a:buFont typeface="Arial" panose="020B0604020202020204" pitchFamily="34" charset="0"/>
              <a:buChar char="•"/>
            </a:pPr>
            <a:r>
              <a:rPr lang="en-ZA" sz="2000" b="1" dirty="0"/>
              <a:t>Gauteng</a:t>
            </a:r>
            <a:r>
              <a:rPr lang="en-ZA" sz="2000" dirty="0"/>
              <a:t> has the highest number of users, with </a:t>
            </a:r>
            <a:r>
              <a:rPr lang="en-ZA" sz="2000" b="1" dirty="0"/>
              <a:t>Youth</a:t>
            </a:r>
            <a:r>
              <a:rPr lang="en-ZA" sz="2000" dirty="0"/>
              <a:t> being the highest.</a:t>
            </a:r>
          </a:p>
          <a:p>
            <a:pPr marL="342900" indent="-342900" algn="just">
              <a:buFont typeface="Arial" panose="020B0604020202020204" pitchFamily="34" charset="0"/>
              <a:buChar char="•"/>
            </a:pPr>
            <a:r>
              <a:rPr lang="en-ZA" sz="2000" b="1" dirty="0"/>
              <a:t>Youth</a:t>
            </a:r>
            <a:r>
              <a:rPr lang="en-ZA" sz="2000" dirty="0"/>
              <a:t> group leads in most of the major provinces.</a:t>
            </a:r>
          </a:p>
          <a:p>
            <a:pPr marL="342900" indent="-342900" algn="just">
              <a:buFont typeface="Arial" panose="020B0604020202020204" pitchFamily="34" charset="0"/>
              <a:buChar char="•"/>
            </a:pPr>
            <a:r>
              <a:rPr lang="en-ZA" sz="2000" dirty="0"/>
              <a:t>Provinces like  </a:t>
            </a:r>
            <a:r>
              <a:rPr lang="en-ZA" sz="2000" b="1" dirty="0"/>
              <a:t>North West,</a:t>
            </a:r>
            <a:r>
              <a:rPr lang="en-ZA" sz="2000" dirty="0"/>
              <a:t> </a:t>
            </a:r>
            <a:r>
              <a:rPr lang="en-ZA" sz="2000" b="1" dirty="0"/>
              <a:t>Mpumalanga</a:t>
            </a:r>
            <a:r>
              <a:rPr lang="en-ZA" sz="2000" dirty="0"/>
              <a:t> and </a:t>
            </a:r>
            <a:r>
              <a:rPr lang="en-ZA" sz="2000" b="1" dirty="0"/>
              <a:t>Northern Cape</a:t>
            </a:r>
            <a:r>
              <a:rPr lang="en-ZA" sz="2000" dirty="0"/>
              <a:t> have low number of users.</a:t>
            </a:r>
          </a:p>
          <a:p>
            <a:pPr marL="342900" indent="-342900" algn="just">
              <a:buFont typeface="Arial" panose="020B0604020202020204" pitchFamily="34" charset="0"/>
              <a:buChar char="•"/>
            </a:pPr>
            <a:r>
              <a:rPr lang="en-ZA" sz="2000" b="1" dirty="0"/>
              <a:t>Child</a:t>
            </a:r>
            <a:r>
              <a:rPr lang="en-ZA" sz="2000" dirty="0"/>
              <a:t> and </a:t>
            </a:r>
            <a:r>
              <a:rPr lang="en-ZA" sz="2000" b="1" dirty="0"/>
              <a:t>Teenage</a:t>
            </a:r>
            <a:r>
              <a:rPr lang="en-ZA" sz="2000" dirty="0"/>
              <a:t> groups are minimal across all provinces.</a:t>
            </a:r>
          </a:p>
          <a:p>
            <a:pPr marL="342900" indent="-342900" algn="just">
              <a:buFont typeface="Arial" panose="020B0604020202020204" pitchFamily="34" charset="0"/>
              <a:buChar char="•"/>
            </a:pPr>
            <a:r>
              <a:rPr lang="en-ZA" sz="2000" dirty="0"/>
              <a:t>There is a significant number of users whom did not select which provinces, especially in </a:t>
            </a:r>
            <a:r>
              <a:rPr lang="en-ZA" sz="2000" b="1" dirty="0"/>
              <a:t>elderly</a:t>
            </a:r>
            <a:r>
              <a:rPr lang="en-ZA" sz="2000" dirty="0"/>
              <a:t> group. Again, this is concerning because it affects data quality.</a:t>
            </a:r>
          </a:p>
          <a:p>
            <a:pPr marL="342900" indent="-342900" algn="just">
              <a:buFont typeface="Arial" panose="020B0604020202020204" pitchFamily="34" charset="0"/>
              <a:buChar char="•"/>
            </a:pPr>
            <a:endParaRPr lang="en-ZA" sz="2000" dirty="0"/>
          </a:p>
          <a:p>
            <a:endParaRPr lang="en-ZA" dirty="0"/>
          </a:p>
        </p:txBody>
      </p:sp>
      <p:graphicFrame>
        <p:nvGraphicFramePr>
          <p:cNvPr id="2" name="Chart 1">
            <a:extLst>
              <a:ext uri="{FF2B5EF4-FFF2-40B4-BE49-F238E27FC236}">
                <a16:creationId xmlns:a16="http://schemas.microsoft.com/office/drawing/2014/main" id="{A85ECC77-B865-B26A-3119-A14C2266B870}"/>
              </a:ext>
            </a:extLst>
          </p:cNvPr>
          <p:cNvGraphicFramePr>
            <a:graphicFrameLocks/>
          </p:cNvGraphicFramePr>
          <p:nvPr>
            <p:extLst>
              <p:ext uri="{D42A27DB-BD31-4B8C-83A1-F6EECF244321}">
                <p14:modId xmlns:p14="http://schemas.microsoft.com/office/powerpoint/2010/main" val="3525792885"/>
              </p:ext>
            </p:extLst>
          </p:nvPr>
        </p:nvGraphicFramePr>
        <p:xfrm>
          <a:off x="464024" y="308184"/>
          <a:ext cx="11263952" cy="40256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90753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E6EC30-71B8-1778-B90A-54C5424B2E41}"/>
              </a:ext>
            </a:extLst>
          </p:cNvPr>
          <p:cNvSpPr txBox="1"/>
          <p:nvPr/>
        </p:nvSpPr>
        <p:spPr>
          <a:xfrm>
            <a:off x="327546" y="3289110"/>
            <a:ext cx="11864453" cy="2677656"/>
          </a:xfrm>
          <a:prstGeom prst="rect">
            <a:avLst/>
          </a:prstGeom>
          <a:noFill/>
        </p:spPr>
        <p:txBody>
          <a:bodyPr wrap="square" rtlCol="0">
            <a:spAutoFit/>
          </a:bodyPr>
          <a:lstStyle/>
          <a:p>
            <a:pPr marL="285750" indent="-285750">
              <a:buFont typeface="Arial" panose="020B0604020202020204" pitchFamily="34" charset="0"/>
              <a:buChar char="•"/>
            </a:pPr>
            <a:r>
              <a:rPr lang="en-ZA" sz="2400" dirty="0"/>
              <a:t>Male customers dominated across almost all racial groups, with highest in </a:t>
            </a:r>
            <a:r>
              <a:rPr lang="en-ZA" sz="2400" b="1" dirty="0"/>
              <a:t>Black</a:t>
            </a:r>
            <a:r>
              <a:rPr lang="en-ZA" sz="2400" dirty="0"/>
              <a:t> (3948) category.</a:t>
            </a:r>
          </a:p>
          <a:p>
            <a:pPr marL="285750" indent="-285750">
              <a:buFont typeface="Arial" panose="020B0604020202020204" pitchFamily="34" charset="0"/>
              <a:buChar char="•"/>
            </a:pPr>
            <a:r>
              <a:rPr lang="en-ZA" sz="2400" dirty="0"/>
              <a:t>A significant portion of those who chose </a:t>
            </a:r>
            <a:r>
              <a:rPr lang="en-ZA" sz="2400" b="1" dirty="0"/>
              <a:t>None </a:t>
            </a:r>
            <a:r>
              <a:rPr lang="en-ZA" sz="2400" dirty="0"/>
              <a:t>on race category have </a:t>
            </a:r>
            <a:r>
              <a:rPr lang="en-ZA" sz="2400" b="1" dirty="0"/>
              <a:t>None </a:t>
            </a:r>
            <a:r>
              <a:rPr lang="en-ZA" sz="2400" dirty="0"/>
              <a:t>(653)</a:t>
            </a:r>
            <a:r>
              <a:rPr lang="en-ZA" sz="2400" b="1" dirty="0"/>
              <a:t> </a:t>
            </a:r>
            <a:r>
              <a:rPr lang="en-ZA" sz="2400" dirty="0"/>
              <a:t>on gender. This could indicate missing data or other gender categories. </a:t>
            </a:r>
          </a:p>
          <a:p>
            <a:pPr marL="285750" indent="-285750">
              <a:buFont typeface="Arial" panose="020B0604020202020204" pitchFamily="34" charset="0"/>
              <a:buChar char="•"/>
            </a:pPr>
            <a:r>
              <a:rPr lang="en-ZA" sz="2400" dirty="0"/>
              <a:t>Female representation is low overall, with the lowest in </a:t>
            </a:r>
            <a:r>
              <a:rPr lang="en-ZA" sz="2400" b="1" dirty="0" err="1"/>
              <a:t>blankspace</a:t>
            </a:r>
            <a:r>
              <a:rPr lang="en-ZA" sz="2400" b="1" dirty="0"/>
              <a:t> </a:t>
            </a:r>
            <a:r>
              <a:rPr lang="en-ZA" sz="2400" dirty="0"/>
              <a:t>(4)</a:t>
            </a:r>
            <a:r>
              <a:rPr lang="en-ZA" sz="2400" b="1" dirty="0"/>
              <a:t> </a:t>
            </a:r>
            <a:r>
              <a:rPr lang="en-ZA" sz="2400" dirty="0"/>
              <a:t>race</a:t>
            </a:r>
            <a:r>
              <a:rPr lang="en-ZA" sz="2400" b="1" dirty="0"/>
              <a:t> </a:t>
            </a:r>
            <a:r>
              <a:rPr lang="en-ZA" sz="2400" dirty="0"/>
              <a:t>category.</a:t>
            </a:r>
          </a:p>
          <a:p>
            <a:pPr marL="285750" indent="-285750">
              <a:buFont typeface="Arial" panose="020B0604020202020204" pitchFamily="34" charset="0"/>
              <a:buChar char="•"/>
            </a:pPr>
            <a:r>
              <a:rPr lang="en-ZA" sz="2400" b="1" dirty="0"/>
              <a:t>Other </a:t>
            </a:r>
            <a:r>
              <a:rPr lang="en-ZA" sz="2400" dirty="0"/>
              <a:t>race category have a relatively low numbers of users.</a:t>
            </a:r>
            <a:endParaRPr lang="en-ZA" sz="2400" b="1" dirty="0"/>
          </a:p>
        </p:txBody>
      </p:sp>
      <p:graphicFrame>
        <p:nvGraphicFramePr>
          <p:cNvPr id="3" name="Chart 2">
            <a:extLst>
              <a:ext uri="{FF2B5EF4-FFF2-40B4-BE49-F238E27FC236}">
                <a16:creationId xmlns:a16="http://schemas.microsoft.com/office/drawing/2014/main" id="{6D06970B-D158-AB59-AFC9-26EFDBB96923}"/>
              </a:ext>
            </a:extLst>
          </p:cNvPr>
          <p:cNvGraphicFramePr>
            <a:graphicFrameLocks/>
          </p:cNvGraphicFramePr>
          <p:nvPr>
            <p:extLst>
              <p:ext uri="{D42A27DB-BD31-4B8C-83A1-F6EECF244321}">
                <p14:modId xmlns:p14="http://schemas.microsoft.com/office/powerpoint/2010/main" val="623718314"/>
              </p:ext>
            </p:extLst>
          </p:nvPr>
        </p:nvGraphicFramePr>
        <p:xfrm>
          <a:off x="425355" y="242122"/>
          <a:ext cx="11284423" cy="30469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68289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81C565-4DE8-7A70-C582-8041D9820A9E}"/>
              </a:ext>
            </a:extLst>
          </p:cNvPr>
          <p:cNvSpPr txBox="1"/>
          <p:nvPr/>
        </p:nvSpPr>
        <p:spPr>
          <a:xfrm>
            <a:off x="327546" y="450376"/>
            <a:ext cx="5768454" cy="5447645"/>
          </a:xfrm>
          <a:prstGeom prst="rect">
            <a:avLst/>
          </a:prstGeom>
          <a:noFill/>
        </p:spPr>
        <p:txBody>
          <a:bodyPr wrap="square" rtlCol="0">
            <a:spAutoFit/>
          </a:bodyPr>
          <a:lstStyle/>
          <a:p>
            <a:pPr marL="285750" indent="-285750" algn="just">
              <a:buFont typeface="Arial" panose="020B0604020202020204" pitchFamily="34" charset="0"/>
              <a:buChar char="•"/>
            </a:pPr>
            <a:r>
              <a:rPr lang="en-ZA" sz="2400" dirty="0"/>
              <a:t>Youth (54%), represent the largest age group, highlighting their dominance in overall viewership.</a:t>
            </a:r>
          </a:p>
          <a:p>
            <a:pPr marL="285750" indent="-285750" algn="just">
              <a:buFont typeface="Arial" panose="020B0604020202020204" pitchFamily="34" charset="0"/>
              <a:buChar char="•"/>
            </a:pPr>
            <a:r>
              <a:rPr lang="en-ZA" sz="2400" dirty="0"/>
              <a:t>Middle-aged adults and elderly (combined 41%), form a substantial portion of the audience, indicating a stable and consistent viewership base.</a:t>
            </a:r>
          </a:p>
          <a:p>
            <a:pPr marL="285750" indent="-285750" algn="just">
              <a:buFont typeface="Arial" panose="020B0604020202020204" pitchFamily="34" charset="0"/>
              <a:buChar char="•"/>
            </a:pPr>
            <a:r>
              <a:rPr lang="en-ZA" sz="2400" dirty="0"/>
              <a:t>Child and Teenage (combined 5%), makes up a very small share, suggesting low and limited viewership from younger audiences.</a:t>
            </a:r>
          </a:p>
          <a:p>
            <a:pPr algn="just"/>
            <a:endParaRPr lang="en-ZA" dirty="0"/>
          </a:p>
          <a:p>
            <a:endParaRPr lang="en-ZA" dirty="0"/>
          </a:p>
        </p:txBody>
      </p:sp>
      <p:graphicFrame>
        <p:nvGraphicFramePr>
          <p:cNvPr id="3" name="Chart 2">
            <a:extLst>
              <a:ext uri="{FF2B5EF4-FFF2-40B4-BE49-F238E27FC236}">
                <a16:creationId xmlns:a16="http://schemas.microsoft.com/office/drawing/2014/main" id="{7FACF4D7-CE05-8EEA-E5AE-02533F5AA35C}"/>
              </a:ext>
            </a:extLst>
          </p:cNvPr>
          <p:cNvGraphicFramePr>
            <a:graphicFrameLocks/>
          </p:cNvGraphicFramePr>
          <p:nvPr>
            <p:extLst>
              <p:ext uri="{D42A27DB-BD31-4B8C-83A1-F6EECF244321}">
                <p14:modId xmlns:p14="http://schemas.microsoft.com/office/powerpoint/2010/main" val="1872598759"/>
              </p:ext>
            </p:extLst>
          </p:nvPr>
        </p:nvGraphicFramePr>
        <p:xfrm>
          <a:off x="6095999" y="450376"/>
          <a:ext cx="5618327" cy="494049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63659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EC77B8-E253-3753-60A7-D0C9DB3C7609}"/>
              </a:ext>
            </a:extLst>
          </p:cNvPr>
          <p:cNvSpPr txBox="1"/>
          <p:nvPr/>
        </p:nvSpPr>
        <p:spPr>
          <a:xfrm>
            <a:off x="218365" y="4176216"/>
            <a:ext cx="11973636" cy="2031325"/>
          </a:xfrm>
          <a:prstGeom prst="rect">
            <a:avLst/>
          </a:prstGeom>
          <a:noFill/>
        </p:spPr>
        <p:txBody>
          <a:bodyPr wrap="square" rtlCol="0">
            <a:spAutoFit/>
          </a:bodyPr>
          <a:lstStyle/>
          <a:p>
            <a:pPr marL="342900" indent="-342900" algn="just">
              <a:buFont typeface="Arial" panose="020B0604020202020204" pitchFamily="34" charset="0"/>
              <a:buChar char="•"/>
            </a:pPr>
            <a:r>
              <a:rPr lang="en-ZA" b="1" dirty="0"/>
              <a:t>Youth</a:t>
            </a:r>
            <a:r>
              <a:rPr lang="en-ZA" dirty="0"/>
              <a:t> group showed a relatively large viewership across all the channels, with </a:t>
            </a:r>
            <a:r>
              <a:rPr lang="en-ZA" b="1" dirty="0" err="1"/>
              <a:t>Supersport</a:t>
            </a:r>
            <a:r>
              <a:rPr lang="en-ZA" b="1" dirty="0"/>
              <a:t> live event</a:t>
            </a:r>
            <a:r>
              <a:rPr lang="en-ZA" dirty="0"/>
              <a:t> (960) being the highest watched.</a:t>
            </a:r>
          </a:p>
          <a:p>
            <a:pPr marL="342900" indent="-342900" algn="just">
              <a:buFont typeface="Arial" panose="020B0604020202020204" pitchFamily="34" charset="0"/>
              <a:buChar char="•"/>
            </a:pPr>
            <a:r>
              <a:rPr lang="en-ZA" b="1" dirty="0"/>
              <a:t>Middle age</a:t>
            </a:r>
            <a:r>
              <a:rPr lang="en-ZA" dirty="0"/>
              <a:t> group ranks second in viewership, maintaining consistence across the channels, with </a:t>
            </a:r>
            <a:r>
              <a:rPr lang="en-ZA" b="1" dirty="0" err="1"/>
              <a:t>Supersport</a:t>
            </a:r>
            <a:r>
              <a:rPr lang="en-ZA" b="1" dirty="0"/>
              <a:t> live event </a:t>
            </a:r>
            <a:r>
              <a:rPr lang="en-ZA" dirty="0"/>
              <a:t> (584) being the highest as well. </a:t>
            </a:r>
          </a:p>
          <a:p>
            <a:pPr marL="342900" indent="-342900" algn="just">
              <a:buFont typeface="Arial" panose="020B0604020202020204" pitchFamily="34" charset="0"/>
              <a:buChar char="•"/>
            </a:pPr>
            <a:r>
              <a:rPr lang="en-ZA" b="1" dirty="0"/>
              <a:t>Elderly</a:t>
            </a:r>
            <a:r>
              <a:rPr lang="en-ZA" dirty="0"/>
              <a:t> group showed a small viewership across all the channels; however, </a:t>
            </a:r>
            <a:r>
              <a:rPr lang="en-ZA" b="1" dirty="0"/>
              <a:t>null </a:t>
            </a:r>
            <a:r>
              <a:rPr lang="en-ZA" dirty="0"/>
              <a:t>(748) category seemed to be the highest, suggesting a large portion of missing viewing data within this group.</a:t>
            </a:r>
          </a:p>
          <a:p>
            <a:pPr marL="342900" indent="-342900" algn="just">
              <a:buFont typeface="Arial" panose="020B0604020202020204" pitchFamily="34" charset="0"/>
              <a:buChar char="•"/>
            </a:pPr>
            <a:r>
              <a:rPr lang="en-ZA" dirty="0"/>
              <a:t>Child group had the lowest of viewership across all channels, with highest channels reaching only 32.</a:t>
            </a:r>
          </a:p>
        </p:txBody>
      </p:sp>
      <p:graphicFrame>
        <p:nvGraphicFramePr>
          <p:cNvPr id="3" name="Chart 2">
            <a:extLst>
              <a:ext uri="{FF2B5EF4-FFF2-40B4-BE49-F238E27FC236}">
                <a16:creationId xmlns:a16="http://schemas.microsoft.com/office/drawing/2014/main" id="{3F85B149-3AA5-B772-6CA4-A6CC6F526088}"/>
              </a:ext>
            </a:extLst>
          </p:cNvPr>
          <p:cNvGraphicFramePr>
            <a:graphicFrameLocks/>
          </p:cNvGraphicFramePr>
          <p:nvPr>
            <p:extLst>
              <p:ext uri="{D42A27DB-BD31-4B8C-83A1-F6EECF244321}">
                <p14:modId xmlns:p14="http://schemas.microsoft.com/office/powerpoint/2010/main" val="1190399245"/>
              </p:ext>
            </p:extLst>
          </p:nvPr>
        </p:nvGraphicFramePr>
        <p:xfrm>
          <a:off x="452650" y="373460"/>
          <a:ext cx="11286699" cy="362533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491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9EB732-F94E-0CF7-0D4D-AA94137AFB41}"/>
              </a:ext>
            </a:extLst>
          </p:cNvPr>
          <p:cNvSpPr txBox="1"/>
          <p:nvPr/>
        </p:nvSpPr>
        <p:spPr>
          <a:xfrm>
            <a:off x="332095" y="4462818"/>
            <a:ext cx="11764370" cy="1754326"/>
          </a:xfrm>
          <a:prstGeom prst="rect">
            <a:avLst/>
          </a:prstGeom>
          <a:noFill/>
        </p:spPr>
        <p:txBody>
          <a:bodyPr wrap="square" rtlCol="0">
            <a:spAutoFit/>
          </a:bodyPr>
          <a:lstStyle/>
          <a:p>
            <a:pPr marL="285750" indent="-285750" algn="just">
              <a:buFont typeface="Arial" panose="020B0604020202020204" pitchFamily="34" charset="0"/>
              <a:buChar char="•"/>
            </a:pPr>
            <a:r>
              <a:rPr lang="en-ZA" dirty="0"/>
              <a:t>The total viewing time (sum of duration) is fairly high in most of the channels, with the </a:t>
            </a:r>
            <a:r>
              <a:rPr lang="en-ZA" b="1" dirty="0" err="1"/>
              <a:t>Supersport</a:t>
            </a:r>
            <a:r>
              <a:rPr lang="en-ZA" b="1" dirty="0"/>
              <a:t> Live Events</a:t>
            </a:r>
            <a:r>
              <a:rPr lang="en-ZA" dirty="0"/>
              <a:t> (218 254.63) recording the highest overall watch time, indicating strong and prolonged audience engagement with this content.</a:t>
            </a:r>
          </a:p>
          <a:p>
            <a:pPr marL="285750" indent="-285750" algn="just">
              <a:buFont typeface="Arial" panose="020B0604020202020204" pitchFamily="34" charset="0"/>
              <a:buChar char="•"/>
            </a:pPr>
            <a:r>
              <a:rPr lang="en-ZA" dirty="0"/>
              <a:t>Interestingly, the total minutes watched often exceed the number of users, suggesting that users are spending extended time per session rather than just briefly accessing content. This points to high user engagement.</a:t>
            </a:r>
          </a:p>
        </p:txBody>
      </p:sp>
      <p:graphicFrame>
        <p:nvGraphicFramePr>
          <p:cNvPr id="6" name="Chart 5">
            <a:extLst>
              <a:ext uri="{FF2B5EF4-FFF2-40B4-BE49-F238E27FC236}">
                <a16:creationId xmlns:a16="http://schemas.microsoft.com/office/drawing/2014/main" id="{06E3A1F3-0A84-183D-1936-5013CAC7A162}"/>
              </a:ext>
            </a:extLst>
          </p:cNvPr>
          <p:cNvGraphicFramePr>
            <a:graphicFrameLocks/>
          </p:cNvGraphicFramePr>
          <p:nvPr>
            <p:extLst>
              <p:ext uri="{D42A27DB-BD31-4B8C-83A1-F6EECF244321}">
                <p14:modId xmlns:p14="http://schemas.microsoft.com/office/powerpoint/2010/main" val="4084920261"/>
              </p:ext>
            </p:extLst>
          </p:nvPr>
        </p:nvGraphicFramePr>
        <p:xfrm>
          <a:off x="452284" y="435078"/>
          <a:ext cx="11312086" cy="413692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0944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AC3265-0BC8-CA2E-CF6B-5F379C01E1D7}"/>
              </a:ext>
            </a:extLst>
          </p:cNvPr>
          <p:cNvSpPr txBox="1"/>
          <p:nvPr/>
        </p:nvSpPr>
        <p:spPr>
          <a:xfrm>
            <a:off x="382136" y="4230806"/>
            <a:ext cx="11809863" cy="1477328"/>
          </a:xfrm>
          <a:prstGeom prst="rect">
            <a:avLst/>
          </a:prstGeom>
          <a:noFill/>
        </p:spPr>
        <p:txBody>
          <a:bodyPr wrap="square" rtlCol="0">
            <a:spAutoFit/>
          </a:bodyPr>
          <a:lstStyle/>
          <a:p>
            <a:pPr marL="285750" indent="-285750" algn="just">
              <a:buFont typeface="Arial" panose="020B0604020202020204" pitchFamily="34" charset="0"/>
              <a:buChar char="•"/>
            </a:pPr>
            <a:r>
              <a:rPr lang="en-ZA" dirty="0"/>
              <a:t>The average number of minutes watched is relatively high across all channels, with the </a:t>
            </a:r>
            <a:r>
              <a:rPr lang="en-ZA" b="1" dirty="0"/>
              <a:t>ICC Cricket World Cup 2011</a:t>
            </a:r>
            <a:r>
              <a:rPr lang="en-ZA" dirty="0"/>
              <a:t> (136.88) still recording the highest watch time, indicating a strong and sustained audience engagement with this content.</a:t>
            </a:r>
          </a:p>
          <a:p>
            <a:pPr marL="285750" indent="-285750" algn="just">
              <a:buFont typeface="Arial" panose="020B0604020202020204" pitchFamily="34" charset="0"/>
              <a:buChar char="•"/>
            </a:pPr>
            <a:r>
              <a:rPr lang="en-ZA" dirty="0"/>
              <a:t>Consistent with the trend observed in total viewing time, </a:t>
            </a:r>
            <a:r>
              <a:rPr lang="en-ZA" b="1" dirty="0"/>
              <a:t>Wimbledon</a:t>
            </a:r>
            <a:r>
              <a:rPr lang="en-ZA" dirty="0"/>
              <a:t> (120.17) records the lowest average watch time, suggesting comparatively lower audience engagement.</a:t>
            </a:r>
          </a:p>
        </p:txBody>
      </p:sp>
      <p:graphicFrame>
        <p:nvGraphicFramePr>
          <p:cNvPr id="3" name="Chart 2">
            <a:extLst>
              <a:ext uri="{FF2B5EF4-FFF2-40B4-BE49-F238E27FC236}">
                <a16:creationId xmlns:a16="http://schemas.microsoft.com/office/drawing/2014/main" id="{22380A52-47DE-21EC-3811-5286AB5BFAD0}"/>
              </a:ext>
            </a:extLst>
          </p:cNvPr>
          <p:cNvGraphicFramePr>
            <a:graphicFrameLocks/>
          </p:cNvGraphicFramePr>
          <p:nvPr>
            <p:extLst>
              <p:ext uri="{D42A27DB-BD31-4B8C-83A1-F6EECF244321}">
                <p14:modId xmlns:p14="http://schemas.microsoft.com/office/powerpoint/2010/main" val="2577589674"/>
              </p:ext>
            </p:extLst>
          </p:nvPr>
        </p:nvGraphicFramePr>
        <p:xfrm>
          <a:off x="382136" y="392372"/>
          <a:ext cx="11427728" cy="38384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60036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05378E-381D-DF63-F813-18B163E4F3A1}"/>
              </a:ext>
            </a:extLst>
          </p:cNvPr>
          <p:cNvSpPr txBox="1"/>
          <p:nvPr/>
        </p:nvSpPr>
        <p:spPr>
          <a:xfrm>
            <a:off x="382136" y="3807725"/>
            <a:ext cx="11809863" cy="2862322"/>
          </a:xfrm>
          <a:prstGeom prst="rect">
            <a:avLst/>
          </a:prstGeom>
          <a:noFill/>
        </p:spPr>
        <p:txBody>
          <a:bodyPr wrap="square" rtlCol="0">
            <a:spAutoFit/>
          </a:bodyPr>
          <a:lstStyle/>
          <a:p>
            <a:pPr marL="285750" indent="-285750" algn="just">
              <a:buFont typeface="Arial" panose="020B0604020202020204" pitchFamily="34" charset="0"/>
              <a:buChar char="•"/>
            </a:pPr>
            <a:r>
              <a:rPr lang="en-ZA" dirty="0"/>
              <a:t>At the beginning of the period (January 2016), the total minutes spent across channels ranges between 0 and  approximately 48 000 minutes, indicating relatively low initial engagement.</a:t>
            </a:r>
          </a:p>
          <a:p>
            <a:pPr marL="285750" indent="-285750" algn="just">
              <a:buFont typeface="Arial" panose="020B0604020202020204" pitchFamily="34" charset="0"/>
              <a:buChar char="•"/>
            </a:pPr>
            <a:r>
              <a:rPr lang="en-ZA" dirty="0"/>
              <a:t>As time progresses, total viewing time increases steadily, with March 2016 recording the highest total minutes spent, suggesting growing user engagement over time.</a:t>
            </a:r>
          </a:p>
          <a:p>
            <a:pPr marL="285750" indent="-285750" algn="just">
              <a:buFont typeface="Arial" panose="020B0604020202020204" pitchFamily="34" charset="0"/>
              <a:buChar char="•"/>
            </a:pPr>
            <a:r>
              <a:rPr lang="en-ZA" dirty="0"/>
              <a:t>Notably, </a:t>
            </a:r>
            <a:r>
              <a:rPr lang="en-ZA" b="1" dirty="0" err="1"/>
              <a:t>Supersport</a:t>
            </a:r>
            <a:r>
              <a:rPr lang="en-ZA" b="1" dirty="0"/>
              <a:t> live events </a:t>
            </a:r>
            <a:r>
              <a:rPr lang="en-ZA" dirty="0"/>
              <a:t>showed a rapid increase in viewership, indicating that these channels gain momentum quickly and attract more sustained attention as time goes on.</a:t>
            </a:r>
          </a:p>
          <a:p>
            <a:pPr marL="285750" indent="-285750" algn="just">
              <a:buFont typeface="Arial" panose="020B0604020202020204" pitchFamily="34" charset="0"/>
              <a:buChar char="•"/>
            </a:pPr>
            <a:r>
              <a:rPr lang="en-ZA" dirty="0"/>
              <a:t>Although ICC Cricket world cup 2011 started late (February 2016), it recorded the highest in March</a:t>
            </a:r>
          </a:p>
          <a:p>
            <a:pPr marL="285750" indent="-285750" algn="just">
              <a:buFont typeface="Arial" panose="020B0604020202020204" pitchFamily="34" charset="0"/>
              <a:buChar char="•"/>
            </a:pPr>
            <a:r>
              <a:rPr lang="en-ZA" dirty="0"/>
              <a:t>In April, </a:t>
            </a:r>
            <a:r>
              <a:rPr lang="en-ZA" b="1" dirty="0"/>
              <a:t>CNN</a:t>
            </a:r>
            <a:r>
              <a:rPr lang="en-ZA" dirty="0"/>
              <a:t>, </a:t>
            </a:r>
            <a:r>
              <a:rPr lang="en-ZA" b="1" dirty="0"/>
              <a:t>Boomerang</a:t>
            </a:r>
            <a:r>
              <a:rPr lang="en-ZA" dirty="0"/>
              <a:t>, </a:t>
            </a:r>
            <a:r>
              <a:rPr lang="en-ZA" b="1" dirty="0" err="1"/>
              <a:t>Supersport</a:t>
            </a:r>
            <a:r>
              <a:rPr lang="en-ZA" b="1" dirty="0"/>
              <a:t> Blitz</a:t>
            </a:r>
            <a:r>
              <a:rPr lang="en-ZA" dirty="0"/>
              <a:t> and </a:t>
            </a:r>
            <a:r>
              <a:rPr lang="en-ZA" b="1" dirty="0"/>
              <a:t>Channel O</a:t>
            </a:r>
            <a:r>
              <a:rPr lang="en-ZA" dirty="0"/>
              <a:t> recorded 0 minutes of viewership, signalling a significant drop in user engagement.</a:t>
            </a:r>
          </a:p>
          <a:p>
            <a:pPr marL="285750" indent="-285750" algn="just">
              <a:buFont typeface="Arial" panose="020B0604020202020204" pitchFamily="34" charset="0"/>
              <a:buChar char="•"/>
            </a:pPr>
            <a:endParaRPr lang="en-ZA" dirty="0"/>
          </a:p>
        </p:txBody>
      </p:sp>
      <p:graphicFrame>
        <p:nvGraphicFramePr>
          <p:cNvPr id="3" name="Chart 2">
            <a:extLst>
              <a:ext uri="{FF2B5EF4-FFF2-40B4-BE49-F238E27FC236}">
                <a16:creationId xmlns:a16="http://schemas.microsoft.com/office/drawing/2014/main" id="{4DF72D84-364F-9F6A-2092-49E99C0A76AD}"/>
              </a:ext>
            </a:extLst>
          </p:cNvPr>
          <p:cNvGraphicFramePr>
            <a:graphicFrameLocks/>
          </p:cNvGraphicFramePr>
          <p:nvPr>
            <p:extLst>
              <p:ext uri="{D42A27DB-BD31-4B8C-83A1-F6EECF244321}">
                <p14:modId xmlns:p14="http://schemas.microsoft.com/office/powerpoint/2010/main" val="2164785750"/>
              </p:ext>
            </p:extLst>
          </p:nvPr>
        </p:nvGraphicFramePr>
        <p:xfrm>
          <a:off x="491320" y="423082"/>
          <a:ext cx="11318544" cy="338464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4576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B5BE97-FAAD-0437-7E94-F92A02D5CCAF}"/>
              </a:ext>
            </a:extLst>
          </p:cNvPr>
          <p:cNvSpPr txBox="1"/>
          <p:nvPr/>
        </p:nvSpPr>
        <p:spPr>
          <a:xfrm>
            <a:off x="382136" y="4230806"/>
            <a:ext cx="11809863" cy="1200329"/>
          </a:xfrm>
          <a:prstGeom prst="rect">
            <a:avLst/>
          </a:prstGeom>
          <a:noFill/>
        </p:spPr>
        <p:txBody>
          <a:bodyPr wrap="square" rtlCol="0">
            <a:spAutoFit/>
          </a:bodyPr>
          <a:lstStyle/>
          <a:p>
            <a:pPr marL="285750" indent="-285750" algn="just">
              <a:buFont typeface="Arial" panose="020B0604020202020204" pitchFamily="34" charset="0"/>
              <a:buChar char="•"/>
            </a:pPr>
            <a:r>
              <a:rPr lang="en-ZA" dirty="0"/>
              <a:t>The total number of minutes watched is significantly higher during weekdays (895 686.28) compared to weekends (395 693.77), indicating stronger engagement during the week.</a:t>
            </a:r>
          </a:p>
          <a:p>
            <a:pPr marL="285750" indent="-285750" algn="just">
              <a:buFont typeface="Arial" panose="020B0604020202020204" pitchFamily="34" charset="0"/>
              <a:buChar char="•"/>
            </a:pPr>
            <a:r>
              <a:rPr lang="en-ZA" dirty="0"/>
              <a:t>Similarly, the number of users is much higher on weekday (7 937) than on weekend (3 052), showing that more users are active during weekdays.</a:t>
            </a:r>
          </a:p>
        </p:txBody>
      </p:sp>
      <p:graphicFrame>
        <p:nvGraphicFramePr>
          <p:cNvPr id="3" name="Chart 2">
            <a:extLst>
              <a:ext uri="{FF2B5EF4-FFF2-40B4-BE49-F238E27FC236}">
                <a16:creationId xmlns:a16="http://schemas.microsoft.com/office/drawing/2014/main" id="{78FC27A5-EA16-F4BC-0C87-283DC551B814}"/>
              </a:ext>
            </a:extLst>
          </p:cNvPr>
          <p:cNvGraphicFramePr>
            <a:graphicFrameLocks/>
          </p:cNvGraphicFramePr>
          <p:nvPr>
            <p:extLst>
              <p:ext uri="{D42A27DB-BD31-4B8C-83A1-F6EECF244321}">
                <p14:modId xmlns:p14="http://schemas.microsoft.com/office/powerpoint/2010/main" val="2797811757"/>
              </p:ext>
            </p:extLst>
          </p:nvPr>
        </p:nvGraphicFramePr>
        <p:xfrm>
          <a:off x="477671" y="409433"/>
          <a:ext cx="11232107" cy="382137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34082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841BF-9886-F86E-EBE4-DCBA53C8B08E}"/>
              </a:ext>
            </a:extLst>
          </p:cNvPr>
          <p:cNvSpPr>
            <a:spLocks noGrp="1"/>
          </p:cNvSpPr>
          <p:nvPr>
            <p:ph type="title"/>
          </p:nvPr>
        </p:nvSpPr>
        <p:spPr>
          <a:xfrm>
            <a:off x="810001" y="264336"/>
            <a:ext cx="10571998" cy="1388259"/>
          </a:xfrm>
        </p:spPr>
        <p:txBody>
          <a:bodyPr/>
          <a:lstStyle/>
          <a:p>
            <a:pPr algn="l"/>
            <a:r>
              <a:rPr lang="en-ZA" dirty="0"/>
              <a:t>CONCLUSION</a:t>
            </a:r>
          </a:p>
        </p:txBody>
      </p:sp>
      <p:sp>
        <p:nvSpPr>
          <p:cNvPr id="4" name="TextBox 3">
            <a:extLst>
              <a:ext uri="{FF2B5EF4-FFF2-40B4-BE49-F238E27FC236}">
                <a16:creationId xmlns:a16="http://schemas.microsoft.com/office/drawing/2014/main" id="{4A6340ED-D48C-2171-D608-CACEA997F461}"/>
              </a:ext>
            </a:extLst>
          </p:cNvPr>
          <p:cNvSpPr txBox="1"/>
          <p:nvPr/>
        </p:nvSpPr>
        <p:spPr>
          <a:xfrm>
            <a:off x="501445" y="1652595"/>
            <a:ext cx="11442353" cy="4401205"/>
          </a:xfrm>
          <a:prstGeom prst="rect">
            <a:avLst/>
          </a:prstGeom>
          <a:noFill/>
        </p:spPr>
        <p:txBody>
          <a:bodyPr wrap="square" rtlCol="0">
            <a:spAutoFit/>
          </a:bodyPr>
          <a:lstStyle/>
          <a:p>
            <a:pPr marL="342900" indent="-342900" algn="just">
              <a:buFont typeface="Arial" panose="020B0604020202020204" pitchFamily="34" charset="0"/>
              <a:buChar char="•"/>
            </a:pPr>
            <a:r>
              <a:rPr lang="en-ZA" sz="2000" b="1" dirty="0"/>
              <a:t>Youth</a:t>
            </a:r>
            <a:r>
              <a:rPr lang="en-ZA" sz="2000" dirty="0"/>
              <a:t> group is the primary driver of the platform, showing the highest user count. </a:t>
            </a:r>
          </a:p>
          <a:p>
            <a:pPr marL="342900" indent="-342900" algn="just">
              <a:buFont typeface="Arial" panose="020B0604020202020204" pitchFamily="34" charset="0"/>
              <a:buChar char="•"/>
            </a:pPr>
            <a:r>
              <a:rPr lang="en-ZA" sz="2000" dirty="0"/>
              <a:t>The engagement of the users is particularly strong among </a:t>
            </a:r>
            <a:r>
              <a:rPr lang="en-ZA" sz="2000" b="1" dirty="0"/>
              <a:t>males</a:t>
            </a:r>
            <a:r>
              <a:rPr lang="en-ZA" sz="2000" dirty="0"/>
              <a:t>.</a:t>
            </a:r>
          </a:p>
          <a:p>
            <a:pPr marL="342900" indent="-342900" algn="just">
              <a:buFont typeface="Arial" panose="020B0604020202020204" pitchFamily="34" charset="0"/>
              <a:buChar char="•"/>
            </a:pPr>
            <a:r>
              <a:rPr lang="en-ZA" sz="2000" b="1" dirty="0"/>
              <a:t>Gauteng</a:t>
            </a:r>
            <a:r>
              <a:rPr lang="en-ZA" sz="2000" dirty="0"/>
              <a:t> is the leading province in terms of performance, while the </a:t>
            </a:r>
            <a:r>
              <a:rPr lang="en-ZA" sz="2000" b="1" dirty="0"/>
              <a:t>North West</a:t>
            </a:r>
            <a:r>
              <a:rPr lang="en-ZA" sz="2000" dirty="0"/>
              <a:t> ranks the lowest.</a:t>
            </a:r>
          </a:p>
          <a:p>
            <a:pPr marL="342900" indent="-342900" algn="just">
              <a:buFont typeface="Arial" panose="020B0604020202020204" pitchFamily="34" charset="0"/>
              <a:buChar char="•"/>
            </a:pPr>
            <a:r>
              <a:rPr lang="en-ZA" sz="2000" b="1" dirty="0"/>
              <a:t>Black</a:t>
            </a:r>
            <a:r>
              <a:rPr lang="en-ZA" sz="2000" dirty="0"/>
              <a:t> users outperformed other racial groups, with male users still showing the strongest performance.</a:t>
            </a:r>
          </a:p>
          <a:p>
            <a:pPr marL="342900" indent="-342900" algn="just">
              <a:buFont typeface="Arial" panose="020B0604020202020204" pitchFamily="34" charset="0"/>
              <a:buChar char="•"/>
            </a:pPr>
            <a:r>
              <a:rPr lang="en-ZA" sz="2000" b="1" dirty="0" err="1"/>
              <a:t>Supersport</a:t>
            </a:r>
            <a:r>
              <a:rPr lang="en-ZA" sz="2000" b="1" dirty="0"/>
              <a:t> live events </a:t>
            </a:r>
            <a:r>
              <a:rPr lang="en-ZA" sz="2000" dirty="0"/>
              <a:t>is the most successful content category based on total minutes spent and average session duration.</a:t>
            </a:r>
          </a:p>
          <a:p>
            <a:pPr marL="342900" indent="-342900" algn="just">
              <a:buFont typeface="Arial" panose="020B0604020202020204" pitchFamily="34" charset="0"/>
              <a:buChar char="•"/>
            </a:pPr>
            <a:r>
              <a:rPr lang="en-ZA" sz="2000" dirty="0"/>
              <a:t>Engagement is higher during the </a:t>
            </a:r>
            <a:r>
              <a:rPr lang="en-ZA" sz="2000" b="1" dirty="0"/>
              <a:t>weekdays</a:t>
            </a:r>
            <a:r>
              <a:rPr lang="en-ZA" sz="2000" dirty="0"/>
              <a:t> compared to </a:t>
            </a:r>
            <a:r>
              <a:rPr lang="en-ZA" sz="2000" b="1" dirty="0"/>
              <a:t>weekends</a:t>
            </a:r>
            <a:r>
              <a:rPr lang="en-ZA" sz="2000" dirty="0"/>
              <a:t>.</a:t>
            </a:r>
          </a:p>
          <a:p>
            <a:pPr marL="342900" indent="-342900" algn="just">
              <a:buFont typeface="Arial" panose="020B0604020202020204" pitchFamily="34" charset="0"/>
              <a:buChar char="•"/>
            </a:pPr>
            <a:r>
              <a:rPr lang="en-ZA" sz="2000" dirty="0"/>
              <a:t>There is a clear growth trend in the first quarter, with </a:t>
            </a:r>
            <a:r>
              <a:rPr lang="en-ZA" sz="2000" b="1" dirty="0"/>
              <a:t>March 2016</a:t>
            </a:r>
            <a:r>
              <a:rPr lang="en-ZA" sz="2000" dirty="0"/>
              <a:t> showing high engagement after a slower </a:t>
            </a:r>
            <a:r>
              <a:rPr lang="en-ZA" sz="2000" b="1" dirty="0"/>
              <a:t>January</a:t>
            </a:r>
            <a:r>
              <a:rPr lang="en-ZA" sz="2000" dirty="0"/>
              <a:t>. However, sales dropped sharply for other channels afterwards.</a:t>
            </a:r>
            <a:endParaRPr lang="en-ZA" sz="2000" b="1" dirty="0"/>
          </a:p>
          <a:p>
            <a:pPr marL="342900" indent="-342900" algn="just">
              <a:buFont typeface="Arial" panose="020B0604020202020204" pitchFamily="34" charset="0"/>
              <a:buChar char="•"/>
            </a:pPr>
            <a:r>
              <a:rPr lang="en-ZA" sz="2000" dirty="0"/>
              <a:t>While the youth are high-value user group, the </a:t>
            </a:r>
            <a:r>
              <a:rPr lang="en-ZA" sz="2000" b="1" dirty="0"/>
              <a:t>child group</a:t>
            </a:r>
            <a:r>
              <a:rPr lang="en-ZA" sz="2000" dirty="0"/>
              <a:t> is identified as a high risk user group.</a:t>
            </a:r>
          </a:p>
        </p:txBody>
      </p:sp>
    </p:spTree>
    <p:extLst>
      <p:ext uri="{BB962C8B-B14F-4D97-AF65-F5344CB8AC3E}">
        <p14:creationId xmlns:p14="http://schemas.microsoft.com/office/powerpoint/2010/main" val="2167729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DA08-69D3-07C3-D444-3975C155F371}"/>
              </a:ext>
            </a:extLst>
          </p:cNvPr>
          <p:cNvSpPr>
            <a:spLocks noGrp="1"/>
          </p:cNvSpPr>
          <p:nvPr>
            <p:ph type="title"/>
          </p:nvPr>
        </p:nvSpPr>
        <p:spPr>
          <a:xfrm>
            <a:off x="486696" y="303532"/>
            <a:ext cx="11341510" cy="1171308"/>
          </a:xfrm>
        </p:spPr>
        <p:txBody>
          <a:bodyPr/>
          <a:lstStyle/>
          <a:p>
            <a:pPr algn="l"/>
            <a:r>
              <a:rPr lang="en-ZA" dirty="0"/>
              <a:t>RECOMMENDATIONS</a:t>
            </a:r>
          </a:p>
        </p:txBody>
      </p:sp>
      <p:sp>
        <p:nvSpPr>
          <p:cNvPr id="3" name="TextBox 2">
            <a:extLst>
              <a:ext uri="{FF2B5EF4-FFF2-40B4-BE49-F238E27FC236}">
                <a16:creationId xmlns:a16="http://schemas.microsoft.com/office/drawing/2014/main" id="{2400C51A-D5F4-1227-8A6A-5BCC79D44D34}"/>
              </a:ext>
            </a:extLst>
          </p:cNvPr>
          <p:cNvSpPr txBox="1"/>
          <p:nvPr/>
        </p:nvSpPr>
        <p:spPr>
          <a:xfrm>
            <a:off x="486696" y="1474840"/>
            <a:ext cx="11705304" cy="5016758"/>
          </a:xfrm>
          <a:prstGeom prst="rect">
            <a:avLst/>
          </a:prstGeom>
          <a:noFill/>
        </p:spPr>
        <p:txBody>
          <a:bodyPr wrap="square" rtlCol="0">
            <a:spAutoFit/>
          </a:bodyPr>
          <a:lstStyle/>
          <a:p>
            <a:pPr algn="just"/>
            <a:r>
              <a:rPr lang="en-ZA" sz="2000" dirty="0" err="1"/>
              <a:t>BrightTV</a:t>
            </a:r>
            <a:r>
              <a:rPr lang="en-ZA" sz="2000" dirty="0"/>
              <a:t> is recommended to:</a:t>
            </a:r>
          </a:p>
          <a:p>
            <a:pPr marL="285750" indent="-285750" algn="just">
              <a:buFont typeface="Arial" panose="020B0604020202020204" pitchFamily="34" charset="0"/>
              <a:buChar char="•"/>
            </a:pPr>
            <a:r>
              <a:rPr lang="en-ZA" sz="2000" dirty="0"/>
              <a:t>Make targeted marketing campaigns to retain youth, particularly males.</a:t>
            </a:r>
          </a:p>
          <a:p>
            <a:pPr marL="285750" indent="-285750" algn="just">
              <a:buFont typeface="Arial" panose="020B0604020202020204" pitchFamily="34" charset="0"/>
              <a:buChar char="•"/>
            </a:pPr>
            <a:r>
              <a:rPr lang="en-ZA" sz="2000" dirty="0"/>
              <a:t>Collaborate with brands, universities, social media platforms, influencers and youth platforms to attract younger groups.</a:t>
            </a:r>
          </a:p>
          <a:p>
            <a:pPr marL="285750" indent="-285750" algn="just">
              <a:buFont typeface="Arial" panose="020B0604020202020204" pitchFamily="34" charset="0"/>
              <a:buChar char="•"/>
            </a:pPr>
            <a:r>
              <a:rPr lang="en-ZA" sz="2000" dirty="0"/>
              <a:t>Expand the </a:t>
            </a:r>
            <a:r>
              <a:rPr lang="en-ZA" sz="2000" dirty="0" err="1"/>
              <a:t>Supersport</a:t>
            </a:r>
            <a:r>
              <a:rPr lang="en-ZA" sz="2000" dirty="0"/>
              <a:t> live events, because it drives the highest engagement.</a:t>
            </a:r>
          </a:p>
          <a:p>
            <a:pPr marL="285750" indent="-285750" algn="just">
              <a:buFont typeface="Arial" panose="020B0604020202020204" pitchFamily="34" charset="0"/>
              <a:buChar char="•"/>
            </a:pPr>
            <a:r>
              <a:rPr lang="en-ZA" sz="2000" dirty="0"/>
              <a:t>Reward high-value users (youth sports viewers) with perks and re-engage inactive users with targeted offers</a:t>
            </a:r>
          </a:p>
          <a:p>
            <a:pPr marL="285750" indent="-285750" algn="just">
              <a:buFont typeface="Arial" panose="020B0604020202020204" pitchFamily="34" charset="0"/>
              <a:buChar char="•"/>
            </a:pPr>
            <a:r>
              <a:rPr lang="en-ZA" sz="2000" dirty="0"/>
              <a:t>Invest in local, relatable and exclusive original content to appeal to core audiences while differentiating itself from competitors.</a:t>
            </a:r>
          </a:p>
          <a:p>
            <a:pPr marL="285750" indent="-285750" algn="just">
              <a:buFont typeface="Arial" panose="020B0604020202020204" pitchFamily="34" charset="0"/>
              <a:buChar char="•"/>
            </a:pPr>
            <a:r>
              <a:rPr lang="en-ZA" sz="2000" dirty="0"/>
              <a:t>Launch campaigns for people whom invite a friend with rewards and offer trial subscriptions for new users</a:t>
            </a:r>
          </a:p>
          <a:p>
            <a:pPr marL="285750" indent="-285750" algn="just">
              <a:buFont typeface="Arial" panose="020B0604020202020204" pitchFamily="34" charset="0"/>
              <a:buChar char="•"/>
            </a:pPr>
            <a:r>
              <a:rPr lang="en-ZA" sz="2000" dirty="0"/>
              <a:t>Strengthen presence in high-performing areas (Gauteng) and run awareness campaigns in underperforming provinces (Northern Cape).</a:t>
            </a:r>
          </a:p>
          <a:p>
            <a:pPr marL="285750" indent="-285750" algn="just">
              <a:buFont typeface="Arial" panose="020B0604020202020204" pitchFamily="34" charset="0"/>
              <a:buChar char="•"/>
            </a:pPr>
            <a:r>
              <a:rPr lang="en-ZA" sz="2000" dirty="0"/>
              <a:t>Run promotions during low-engagement periods (January 2016 and April 2016) and schedule major content releases during peak periods (weekdays)</a:t>
            </a:r>
          </a:p>
          <a:p>
            <a:pPr marL="285750" indent="-285750" algn="just">
              <a:buFont typeface="Arial" panose="020B0604020202020204" pitchFamily="34" charset="0"/>
              <a:buChar char="•"/>
            </a:pPr>
            <a:endParaRPr lang="en-ZA" sz="2000" dirty="0"/>
          </a:p>
        </p:txBody>
      </p:sp>
    </p:spTree>
    <p:extLst>
      <p:ext uri="{BB962C8B-B14F-4D97-AF65-F5344CB8AC3E}">
        <p14:creationId xmlns:p14="http://schemas.microsoft.com/office/powerpoint/2010/main" val="2547825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US" sz="9600" dirty="0"/>
              <a:t>Thank You</a:t>
            </a:r>
            <a:endParaRPr lang="en-US" sz="9600" noProof="0" dirty="0"/>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3737113"/>
            <a:ext cx="10650681" cy="2296843"/>
          </a:xfrm>
        </p:spPr>
        <p:txBody>
          <a:bodyPr/>
          <a:lstStyle/>
          <a:p>
            <a:pPr lvl="0"/>
            <a:r>
              <a:rPr lang="en-US" sz="2400" noProof="0" dirty="0"/>
              <a:t>masekondadlana</a:t>
            </a:r>
            <a:r>
              <a:rPr lang="en-US" noProof="0" dirty="0"/>
              <a:t>@gmail.com</a:t>
            </a:r>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3.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{2BE7FF9B-2BA8-4FB4-897B-59D21D4B67C9}TF4e23ad37-c1a6-42e6-a6ec-6518d97eca9ec3cad5d6_win32-e4fb00466b0d</Template>
  <TotalTime>3762</TotalTime>
  <Words>1354</Words>
  <Application>Microsoft Office PowerPoint</Application>
  <PresentationFormat>Widescreen</PresentationFormat>
  <Paragraphs>102</Paragraphs>
  <Slides>18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Century Gothic</vt:lpstr>
      <vt:lpstr>Wingdings 2</vt:lpstr>
      <vt:lpstr>Quotable</vt:lpstr>
      <vt:lpstr>BRIGHT TV PRESENTATION</vt:lpstr>
      <vt:lpstr>OUTLINE</vt:lpstr>
      <vt:lpstr>INTRODUCTION</vt:lpstr>
      <vt:lpstr>PROBLEM STATEMENT</vt:lpstr>
      <vt:lpstr>OBJECTIVES</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this pc</dc:creator>
  <cp:lastModifiedBy>this pc</cp:lastModifiedBy>
  <cp:revision>65</cp:revision>
  <dcterms:created xsi:type="dcterms:W3CDTF">2026-04-05T07:38:18Z</dcterms:created>
  <dcterms:modified xsi:type="dcterms:W3CDTF">2026-04-18T12:42:16Z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